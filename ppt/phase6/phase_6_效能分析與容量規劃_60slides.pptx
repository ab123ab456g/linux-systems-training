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</p:sldIdLst>
  <p:notesMasterIdLst>
    <p:notesMasterId r:id="rId6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notesMaster" Target="notesMasters/notesMaster1.xml"/><Relationship Id="rId63" Type="http://schemas.openxmlformats.org/officeDocument/2006/relationships/presProps" Target="presProps.xml"/><Relationship Id="rId64" Type="http://schemas.openxmlformats.org/officeDocument/2006/relationships/viewProps" Target="viewProps.xml"/><Relationship Id="rId65" Type="http://schemas.openxmlformats.org/officeDocument/2006/relationships/theme" Target="theme/theme1.xml"/><Relationship Id="rId66" Type="http://schemas.openxmlformats.org/officeDocument/2006/relationships/tableStyles" Target="tableStyles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效能分析與容量規劃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Phase 6｜效能分析與容量規劃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Baseline → Measure → Isolate → Tune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1/60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31520" y="192024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8FAFC"/>
                </a:solidFill>
              </a:rPr>
              <a:t>系統沒有壞，但開始變慢或容量逼近上限。目標是用數據找瓶頸、調整、比較 before/after、預估擴容。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14400" y="3931920"/>
            <a:ext cx="1661160" cy="91440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7552" y="400507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987552" y="4261104"/>
            <a:ext cx="1514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環境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648712" y="3931920"/>
            <a:ext cx="1661160" cy="9144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21864" y="400507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2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721864" y="4261104"/>
            <a:ext cx="1514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紀錄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383024" y="3931920"/>
            <a:ext cx="1661160" cy="91440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56176" y="400507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3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456176" y="4261104"/>
            <a:ext cx="1514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實驗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117336" y="3931920"/>
            <a:ext cx="1661160" cy="9144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90488" y="400507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4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190488" y="4261104"/>
            <a:ext cx="1514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驗證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851648" y="3931920"/>
            <a:ext cx="1661160" cy="91440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24800" y="400507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5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924800" y="4261104"/>
            <a:ext cx="1514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回復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9585960" y="3931920"/>
            <a:ext cx="1661160" cy="9144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659112" y="400507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6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9659112" y="4261104"/>
            <a:ext cx="1514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交付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效能分析與容量規劃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本階段故事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Phase 6 基礎說明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2/60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68680" y="1417320"/>
            <a:ext cx="10332720" cy="4480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沿用同一台 Report Platform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系統沒有壞，但開始變慢或容量逼近上限。目標是用數據找瓶頸、調整、比較 before/after、預估擴容。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每個 Lab 都必須先看機器狀態，再進入操作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效能分析與容量規劃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學習目標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Phase 6 基礎說明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3/60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68680" y="1417320"/>
            <a:ext cx="10332720" cy="4480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能說明本次操作要改什麼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能建立 before/after machine record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能用原生命令與 verify.sh 雙重驗證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能 rollback / reset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效能分析與容量規劃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標準實驗節奏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Phase 6 基礎說明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4/60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68680" y="1417320"/>
            <a:ext cx="10332720" cy="4480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1. 環境設定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2. Machine Record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3. Baseline / Inventory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4. Prepare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5. Operation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6. Verify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7. Record After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8. Rollback / Reset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效能分析與容量規劃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安全邊界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Phase 6 基礎說明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5/60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68680" y="1417320"/>
            <a:ext cx="10332720" cy="4480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預設使用 runtime/ sandbox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高風險指令需先 dry-run 或 teacher mode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不直接破壞真實 user/firewall/systemd/mount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所有變更前先記錄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效能分析與容量規劃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目錄與工作位置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Phase 6 基礎說明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6/60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68680" y="1417320"/>
            <a:ext cx="10332720" cy="4480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linux-training/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phase6/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runtime/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records/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tests/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docs/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效能分析與容量規劃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Machine Record：為什麼要做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Phase 6 基礎說明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7/60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68680" y="1417320"/>
            <a:ext cx="10332720" cy="4480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避免不知道改了什麼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讓 before/after 可比較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verify 失敗時能回推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形成真實維運習慣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效能分析與容量規劃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Baseline Command Set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Phase 6 基礎說明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8/60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68680" y="1417320"/>
            <a:ext cx="10332720" cy="4480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hostnamectl / uname / os-release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whoami / id / groups / sudo -l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ip addr / ip route / ss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lsblk / df / findmnt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systemctl / journalctl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效能分析與容量規劃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Lab Script 角色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Phase 6 基礎說明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9/60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68680" y="1417320"/>
            <a:ext cx="10332720" cy="4480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prepare.sh：建立實驗素材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verify.sh：自動驗收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rollback.sh：回到變更前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reset.sh：回到 Lab 初始狀態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效能分析與容量規劃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本階段交付物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Phase 6 基礎說明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10/60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68680" y="1417320"/>
            <a:ext cx="10332720" cy="4480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machine-record before/after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command output evidence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verify result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rollback/reset evidence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final report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效能分析與容量規劃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共同開場：建立 Machine Record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每個 Lab 都先做，不要直接下修改指令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11/60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822960" y="1234440"/>
            <a:ext cx="10607040" cy="5074920"/>
          </a:xfrm>
          <a:prstGeom prst="roundRect">
            <a:avLst>
              <a:gd name="adj" fmla="val 1081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1325880"/>
            <a:ext cx="10387584" cy="4910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mkdir -p ~/linux-training-records/phase6/labXX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date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hostnamectl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uname -a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cat /etc/os-release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whoami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id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groups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ip addr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ip route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lsblk -f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df -h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systemctl --failed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ss -tulpn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} &gt; ~/linux-training-records/phase6/labXX/before.txt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效能分析與容量規劃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01. Performance Baseline｜場景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建立 CPU/RAM/Disk/Network/App 正常值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12/60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94360" y="1417320"/>
            <a:ext cx="5349240" cy="4526280"/>
          </a:xfrm>
          <a:prstGeom prst="roundRect">
            <a:avLst>
              <a:gd name="adj" fmla="val 1212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0" y="1417320"/>
            <a:ext cx="5349240" cy="4526280"/>
          </a:xfrm>
          <a:prstGeom prst="roundRect">
            <a:avLst>
              <a:gd name="adj" fmla="val 1212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16642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</a:rPr>
              <a:t>今天要解決什麼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04672" y="2057400"/>
            <a:ext cx="4846320" cy="3429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建立 CPU/RAM/Disk/Network/App 正常值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先 inventory / baseline，再進入實驗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所有輸出要保存到 records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最後必須 verify + rollback/reset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46520" y="16642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78BFA"/>
                </a:solidFill>
              </a:rPr>
              <a:t>不要做什麼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28232" y="2057400"/>
            <a:ext cx="4846320" cy="3429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不要一開始就執行修改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不要只貼 ./verify.sh 不說明目的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不要沒有 before state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不要把 rollback 與 reset 混用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效能分析與容量規劃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01. Performance Baseline｜環境與初始紀錄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先知道你站在哪台機器、哪個目錄、哪個 service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13/60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10698480" cy="1828800"/>
          </a:xfrm>
          <a:prstGeom prst="roundRect">
            <a:avLst>
              <a:gd name="adj" fmla="val 3000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10479024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cd ~/linux-training/phase6/scenarios/01-*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mkdir -p ~/linux-training-records/phase6/01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pwd &gt; ~/linux-training-records/phase6/01/pwd.txt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hostnamectl &gt; ~/linux-training-records/phase6/01/host.txt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whoami &gt; ~/linux-training-records/phase6/01/user.txt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id &gt;&gt; ~/linux-training-records/phase6/01/user.txt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3429000"/>
            <a:ext cx="10058400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</a:rPr>
              <a:t>• 這一頁不是教指令而已，是建立操作上下文。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</a:rPr>
              <a:t>• 學生必須能回答：我在哪台機器？用什麼身份？接下來會改哪裡？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效能分析與容量規劃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01. Performance Baseline｜指令說明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先拆開每個 command 的用途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14/60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5212080" cy="4480560"/>
          </a:xfrm>
          <a:prstGeom prst="roundRect">
            <a:avLst>
              <a:gd name="adj" fmla="val 1224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4992624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1. lscpu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2. uptime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3. top -b -n1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4. free -h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5. df -h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6. iostat -xz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7. ip -s link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8. curl -w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09360" y="1417320"/>
            <a:ext cx="5029200" cy="4114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read 類指令：用來建立現況，不修改機器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verify 類指令：用來證明結果符合預期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change 類指令：要先有 backup / rollback path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同一組指令要能串成決策流程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效能分析與容量規劃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01. Performance Baseline｜操作流程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從 prepare 到操作，不要跳步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15/60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85800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58952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進入資料夾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11552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84704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584704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記 before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337304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10456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410456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prepare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163056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36208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4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236208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手動操作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88808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61960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5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061960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原生命令驗證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814560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887712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6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887712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verify.sh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22960" y="2788920"/>
            <a:ext cx="5394960" cy="2103120"/>
          </a:xfrm>
          <a:prstGeom prst="roundRect">
            <a:avLst>
              <a:gd name="adj" fmla="val 2609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32688" y="2880360"/>
            <a:ext cx="5175504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./prepare.sh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根據本頁目標做手動操作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例：修改 config / 建立 service / 注入 fault / restore / tune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./verify.sh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46520" y="2743200"/>
            <a:ext cx="4846320" cy="2194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建立 baseline files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記錄 p95/throughput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說明不能只看單一指標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保存 before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效能分析與容量規劃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01. Performance Baseline｜After Record / Before-After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做完操作後再次記錄，才能知道差異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16/60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10698480" cy="3794760"/>
          </a:xfrm>
          <a:prstGeom prst="roundRect">
            <a:avLst>
              <a:gd name="adj" fmla="val 1446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10479024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date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systemctl --failed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ss -tulpn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journalctl -p err -n 30 --no-pager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} &gt; ~/linux-training-records/phase6/01/after.txt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diff -u   ~/linux-training-records/phase6/01/before.txt   ~/linux-training-records/phase6/01/after.txt   &gt; ~/linux-training-records/phase6/01/diff.txt || true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5303520"/>
            <a:ext cx="1005840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Before / After / Diff 是每個實驗的核心證據。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沒有 diff，就只是在憑印象說「好像改好了」。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效能分析與容量規劃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01. Performance Baseline｜Verify / Rollback / Reset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三個腳本的目的必須分清楚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17/60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31520" y="1234440"/>
            <a:ext cx="5486400" cy="3200400"/>
          </a:xfrm>
          <a:prstGeom prst="roundRect">
            <a:avLst>
              <a:gd name="adj" fmla="val 1714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1325880"/>
            <a:ext cx="5266944" cy="3035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./verify.sh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驗證目前狀態是否達成本 Lab 目標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./rollback.sh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如果本次 change 失敗，回到 change 前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./reset.sh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Lab 結束或要重練，回到 Lab 初始狀態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1508760"/>
            <a:ext cx="4663440" cy="2834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verify 不是魔法：要先知道它在驗什麼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rollback 不是 reset：rollback 回變更前，reset 回 Lab 初始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跑完 rollback/reset 後仍要再 verify 或重新 read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效能分析與容量規劃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02. CPU / Process｜場景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找高 CPU 與前台/背景資源競爭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18/60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94360" y="1417320"/>
            <a:ext cx="5349240" cy="4526280"/>
          </a:xfrm>
          <a:prstGeom prst="roundRect">
            <a:avLst>
              <a:gd name="adj" fmla="val 1212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0" y="1417320"/>
            <a:ext cx="5349240" cy="4526280"/>
          </a:xfrm>
          <a:prstGeom prst="roundRect">
            <a:avLst>
              <a:gd name="adj" fmla="val 1212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16642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</a:rPr>
              <a:t>今天要解決什麼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04672" y="2057400"/>
            <a:ext cx="4846320" cy="3429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找高 CPU 與前台/背景資源競爭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先 inventory / baseline，再進入實驗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所有輸出要保存到 records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最後必須 verify + rollback/reset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46520" y="16642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78BFA"/>
                </a:solidFill>
              </a:rPr>
              <a:t>不要做什麼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28232" y="2057400"/>
            <a:ext cx="4846320" cy="3429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不要一開始就執行修改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不要只貼 ./verify.sh 不說明目的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不要沒有 before state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不要把 rollback 與 reset 混用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效能分析與容量規劃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02. CPU / Process｜環境與初始紀錄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先知道你站在哪台機器、哪個目錄、哪個 service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19/60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10698480" cy="1828800"/>
          </a:xfrm>
          <a:prstGeom prst="roundRect">
            <a:avLst>
              <a:gd name="adj" fmla="val 3000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10479024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cd ~/linux-training/phase6/scenarios/02-*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mkdir -p ~/linux-training-records/phase6/02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pwd &gt; ~/linux-training-records/phase6/02/pwd.txt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hostnamectl &gt; ~/linux-training-records/phase6/02/host.txt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whoami &gt; ~/linux-training-records/phase6/02/user.txt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id &gt;&gt; ~/linux-training-records/phase6/02/user.txt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3429000"/>
            <a:ext cx="10058400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</a:rPr>
              <a:t>• 這一頁不是教指令而已，是建立操作上下文。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</a:rPr>
              <a:t>• 學生必須能回答：我在哪台機器？用什麼身份？接下來會改哪裡？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效能分析與容量規劃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02. CPU / Process｜指令說明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先拆開每個 command 的用途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20/60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5212080" cy="4480560"/>
          </a:xfrm>
          <a:prstGeom prst="roundRect">
            <a:avLst>
              <a:gd name="adj" fmla="val 1224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4992624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1. mpstat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2. vmstat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3. pidstat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4. ps aux --sort=-%cpu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5. top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6. renice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09360" y="1417320"/>
            <a:ext cx="5029200" cy="4114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read 類指令：用來建立現況，不修改機器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verify 類指令：用來證明結果符合預期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change 類指令：要先有 backup / rollback path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同一組指令要能串成決策流程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效能分析與容量規劃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02. CPU / Process｜操作流程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從 prepare 到操作，不要跳步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21/60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85800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58952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進入資料夾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11552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84704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584704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記 before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337304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10456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410456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prepare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163056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36208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4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236208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手動操作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88808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61960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5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061960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原生命令驗證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814560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887712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6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887712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verify.sh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22960" y="2788920"/>
            <a:ext cx="5394960" cy="2103120"/>
          </a:xfrm>
          <a:prstGeom prst="roundRect">
            <a:avLst>
              <a:gd name="adj" fmla="val 2609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32688" y="2880360"/>
            <a:ext cx="5175504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./prepare.sh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根據本頁目標做手動操作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例：修改 config / 建立 service / 注入 fault / restore / tune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./verify.sh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46520" y="2743200"/>
            <a:ext cx="4846320" cy="2194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user/system/iowait/steal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找 worker CPU hog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調 nice/CPUQuota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verify app latency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效能分析與容量規劃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02. CPU / Process｜After Record / Before-After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做完操作後再次記錄，才能知道差異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22/60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10698480" cy="3794760"/>
          </a:xfrm>
          <a:prstGeom prst="roundRect">
            <a:avLst>
              <a:gd name="adj" fmla="val 1446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10479024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date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systemctl --failed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ss -tulpn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journalctl -p err -n 30 --no-pager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} &gt; ~/linux-training-records/phase6/02/after.txt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diff -u   ~/linux-training-records/phase6/02/before.txt   ~/linux-training-records/phase6/02/after.txt   &gt; ~/linux-training-records/phase6/02/diff.txt || true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5303520"/>
            <a:ext cx="1005840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Before / After / Diff 是每個實驗的核心證據。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沒有 diff，就只是在憑印象說「好像改好了」。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效能分析與容量規劃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02. CPU / Process｜Verify / Rollback / Reset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三個腳本的目的必須分清楚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23/60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31520" y="1234440"/>
            <a:ext cx="5486400" cy="3200400"/>
          </a:xfrm>
          <a:prstGeom prst="roundRect">
            <a:avLst>
              <a:gd name="adj" fmla="val 1714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1325880"/>
            <a:ext cx="5266944" cy="3035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./verify.sh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驗證目前狀態是否達成本 Lab 目標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./rollback.sh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如果本次 change 失敗，回到 change 前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./reset.sh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Lab 結束或要重練，回到 Lab 初始狀態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1508760"/>
            <a:ext cx="4663440" cy="2834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verify 不是魔法：要先知道它在驗什麼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rollback 不是 reset：rollback 回變更前，reset 回 Lab 初始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跑完 rollback/reset 後仍要再 verify 或重新 read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效能分析與容量規劃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03. RAM / Swap｜場景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分辨 cache 正常與 memory pressure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24/60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94360" y="1417320"/>
            <a:ext cx="5349240" cy="4526280"/>
          </a:xfrm>
          <a:prstGeom prst="roundRect">
            <a:avLst>
              <a:gd name="adj" fmla="val 1212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0" y="1417320"/>
            <a:ext cx="5349240" cy="4526280"/>
          </a:xfrm>
          <a:prstGeom prst="roundRect">
            <a:avLst>
              <a:gd name="adj" fmla="val 1212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16642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</a:rPr>
              <a:t>今天要解決什麼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04672" y="2057400"/>
            <a:ext cx="4846320" cy="3429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分辨 cache 正常與 memory pressure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先 inventory / baseline，再進入實驗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所有輸出要保存到 records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最後必須 verify + rollback/reset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46520" y="16642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78BFA"/>
                </a:solidFill>
              </a:rPr>
              <a:t>不要做什麼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28232" y="2057400"/>
            <a:ext cx="4846320" cy="3429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不要一開始就執行修改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不要只貼 ./verify.sh 不說明目的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不要沒有 before state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不要把 rollback 與 reset 混用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效能分析與容量規劃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03. RAM / Swap｜環境與初始紀錄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先知道你站在哪台機器、哪個目錄、哪個 service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25/60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10698480" cy="1828800"/>
          </a:xfrm>
          <a:prstGeom prst="roundRect">
            <a:avLst>
              <a:gd name="adj" fmla="val 3000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10479024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cd ~/linux-training/phase6/scenarios/03-*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mkdir -p ~/linux-training-records/phase6/03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pwd &gt; ~/linux-training-records/phase6/03/pwd.txt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hostnamectl &gt; ~/linux-training-records/phase6/03/host.txt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whoami &gt; ~/linux-training-records/phase6/03/user.txt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id &gt;&gt; ~/linux-training-records/phase6/03/user.txt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3429000"/>
            <a:ext cx="10058400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</a:rPr>
              <a:t>• 這一頁不是教指令而已，是建立操作上下文。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</a:rPr>
              <a:t>• 學生必須能回答：我在哪台機器？用什麼身份？接下來會改哪裡？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效能分析與容量規劃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03. RAM / Swap｜指令說明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先拆開每個 command 的用途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26/60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5212080" cy="4480560"/>
          </a:xfrm>
          <a:prstGeom prst="roundRect">
            <a:avLst>
              <a:gd name="adj" fmla="val 1224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4992624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1. free -h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2. cat /proc/meminfo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3. vmstat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4. sar -r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5. pmap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6. ps aux --sort=-%mem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09360" y="1417320"/>
            <a:ext cx="5029200" cy="4114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read 類指令：用來建立現況，不修改機器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verify 類指令：用來證明結果符合預期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change 類指令：要先有 backup / rollback path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同一組指令要能串成決策流程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效能分析與容量規劃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03. RAM / Swap｜操作流程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從 prepare 到操作，不要跳步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27/60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85800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58952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進入資料夾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11552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84704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584704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記 before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337304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10456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410456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prepare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163056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36208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4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236208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手動操作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88808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61960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5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061960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原生命令驗證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814560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887712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6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887712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verify.sh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22960" y="2788920"/>
            <a:ext cx="5394960" cy="2103120"/>
          </a:xfrm>
          <a:prstGeom prst="roundRect">
            <a:avLst>
              <a:gd name="adj" fmla="val 2609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32688" y="2880360"/>
            <a:ext cx="5175504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./prepare.sh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根據本頁目標做手動操作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例：修改 config / 建立 service / 注入 fault / restore / tune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./verify.sh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46520" y="2743200"/>
            <a:ext cx="4846320" cy="2194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看 available/cache/swap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找 leak/process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調 MemoryMax/batch/cache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monitor swap in/out</a:t>
            </a:r>
            <a:endParaRPr lang="en-US" sz="1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效能分析與容量規劃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03. RAM / Swap｜After Record / Before-After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做完操作後再次記錄，才能知道差異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28/60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10698480" cy="3794760"/>
          </a:xfrm>
          <a:prstGeom prst="roundRect">
            <a:avLst>
              <a:gd name="adj" fmla="val 1446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10479024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date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systemctl --failed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ss -tulpn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journalctl -p err -n 30 --no-pager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} &gt; ~/linux-training-records/phase6/03/after.txt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diff -u   ~/linux-training-records/phase6/03/before.txt   ~/linux-training-records/phase6/03/after.txt   &gt; ~/linux-training-records/phase6/03/diff.txt || true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5303520"/>
            <a:ext cx="1005840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Before / After / Diff 是每個實驗的核心證據。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沒有 diff，就只是在憑印象說「好像改好了」。</a:t>
            </a:r>
            <a:endParaRPr lang="en-US" sz="1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效能分析與容量規劃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03. RAM / Swap｜Verify / Rollback / Reset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三個腳本的目的必須分清楚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29/60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31520" y="1234440"/>
            <a:ext cx="5486400" cy="3200400"/>
          </a:xfrm>
          <a:prstGeom prst="roundRect">
            <a:avLst>
              <a:gd name="adj" fmla="val 1714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1325880"/>
            <a:ext cx="5266944" cy="3035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./verify.sh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驗證目前狀態是否達成本 Lab 目標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./rollback.sh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如果本次 change 失敗，回到 change 前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./reset.sh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Lab 結束或要重練，回到 Lab 初始狀態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1508760"/>
            <a:ext cx="4663440" cy="2834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verify 不是魔法：要先知道它在驗什麼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rollback 不是 reset：rollback 回變更前，reset 回 Lab 初始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跑完 rollback/reset 後仍要再 verify 或重新 read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效能分析與容量規劃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04. Disk Usage / I/O｜場景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找容量成長與 I/O bottleneck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30/60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94360" y="1417320"/>
            <a:ext cx="5349240" cy="4526280"/>
          </a:xfrm>
          <a:prstGeom prst="roundRect">
            <a:avLst>
              <a:gd name="adj" fmla="val 1212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0" y="1417320"/>
            <a:ext cx="5349240" cy="4526280"/>
          </a:xfrm>
          <a:prstGeom prst="roundRect">
            <a:avLst>
              <a:gd name="adj" fmla="val 1212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16642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</a:rPr>
              <a:t>今天要解決什麼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04672" y="2057400"/>
            <a:ext cx="4846320" cy="3429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找容量成長與 I/O bottleneck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先 inventory / baseline，再進入實驗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所有輸出要保存到 records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最後必須 verify + rollback/reset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46520" y="16642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78BFA"/>
                </a:solidFill>
              </a:rPr>
              <a:t>不要做什麼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28232" y="2057400"/>
            <a:ext cx="4846320" cy="3429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不要一開始就執行修改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不要只貼 ./verify.sh 不說明目的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不要沒有 before state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不要把 rollback 與 reset 混用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效能分析與容量規劃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04. Disk Usage / I/O｜環境與初始紀錄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先知道你站在哪台機器、哪個目錄、哪個 service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31/60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10698480" cy="1828800"/>
          </a:xfrm>
          <a:prstGeom prst="roundRect">
            <a:avLst>
              <a:gd name="adj" fmla="val 3000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10479024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cd ~/linux-training/phase6/scenarios/04-*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mkdir -p ~/linux-training-records/phase6/04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pwd &gt; ~/linux-training-records/phase6/04/pwd.txt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hostnamectl &gt; ~/linux-training-records/phase6/04/host.txt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whoami &gt; ~/linux-training-records/phase6/04/user.txt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id &gt;&gt; ~/linux-training-records/phase6/04/user.txt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3429000"/>
            <a:ext cx="10058400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</a:rPr>
              <a:t>• 這一頁不是教指令而已，是建立操作上下文。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</a:rPr>
              <a:t>• 學生必須能回答：我在哪台機器？用什麼身份？接下來會改哪裡？</a:t>
            </a:r>
            <a:endParaRPr lang="en-US" sz="1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效能分析與容量規劃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04. Disk Usage / I/O｜指令說明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先拆開每個 command 的用途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32/60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5212080" cy="4480560"/>
          </a:xfrm>
          <a:prstGeom prst="roundRect">
            <a:avLst>
              <a:gd name="adj" fmla="val 1224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4992624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1. df -h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2. df -i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3. du -xhd1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4. iostat -xz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5. pidstat -d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6. fio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09360" y="1417320"/>
            <a:ext cx="5029200" cy="4114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read 類指令：用來建立現況，不修改機器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verify 類指令：用來證明結果符合預期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change 類指令：要先有 backup / rollback path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同一組指令要能串成決策流程</a:t>
            </a:r>
            <a:endParaRPr lang="en-US" sz="15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效能分析與容量規劃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04. Disk Usage / I/O｜操作流程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從 prepare 到操作，不要跳步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33/60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85800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58952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進入資料夾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11552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84704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584704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記 before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337304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10456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410456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prepare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163056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36208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4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236208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手動操作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88808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61960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5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061960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原生命令驗證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814560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887712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6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887712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verify.sh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22960" y="2788920"/>
            <a:ext cx="5394960" cy="2103120"/>
          </a:xfrm>
          <a:prstGeom prst="roundRect">
            <a:avLst>
              <a:gd name="adj" fmla="val 2609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32688" y="2880360"/>
            <a:ext cx="5175504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./prepare.sh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根據本頁目標做手動操作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例：修改 config / 建立 service / 注入 fault / restore / tune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./verify.sh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46520" y="2743200"/>
            <a:ext cx="4846320" cy="2194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算 growth rate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找 await/util 高的 device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調 schedule/I/O priority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verify latency</a:t>
            </a:r>
            <a:endParaRPr lang="en-US" sz="13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效能分析與容量規劃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04. Disk Usage / I/O｜After Record / Before-After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做完操作後再次記錄，才能知道差異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34/60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10698480" cy="3794760"/>
          </a:xfrm>
          <a:prstGeom prst="roundRect">
            <a:avLst>
              <a:gd name="adj" fmla="val 1446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10479024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date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systemctl --failed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ss -tulpn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journalctl -p err -n 30 --no-pager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} &gt; ~/linux-training-records/phase6/04/after.txt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diff -u   ~/linux-training-records/phase6/04/before.txt   ~/linux-training-records/phase6/04/after.txt   &gt; ~/linux-training-records/phase6/04/diff.txt || true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5303520"/>
            <a:ext cx="1005840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Before / After / Diff 是每個實驗的核心證據。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沒有 diff，就只是在憑印象說「好像改好了」。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效能分析與容量規劃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04. Disk Usage / I/O｜Verify / Rollback / Reset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三個腳本的目的必須分清楚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35/60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31520" y="1234440"/>
            <a:ext cx="5486400" cy="3200400"/>
          </a:xfrm>
          <a:prstGeom prst="roundRect">
            <a:avLst>
              <a:gd name="adj" fmla="val 1714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1325880"/>
            <a:ext cx="5266944" cy="3035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./verify.sh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驗證目前狀態是否達成本 Lab 目標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./rollback.sh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如果本次 change 失敗，回到 change 前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./reset.sh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Lab 結束或要重練，回到 Lab 初始狀態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1508760"/>
            <a:ext cx="4663440" cy="2834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verify 不是魔法：要先知道它在驗什麼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rollback 不是 reset：rollback 回變更前，reset 回 Lab 初始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跑完 rollback/reset 後仍要再 verify 或重新 read</a:t>
            </a:r>
            <a:endParaRPr lang="en-US" sz="15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效能分析與容量規劃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05. Network / Response Time｜場景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分解 host/link/app latency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36/60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94360" y="1417320"/>
            <a:ext cx="5349240" cy="4526280"/>
          </a:xfrm>
          <a:prstGeom prst="roundRect">
            <a:avLst>
              <a:gd name="adj" fmla="val 1212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0" y="1417320"/>
            <a:ext cx="5349240" cy="4526280"/>
          </a:xfrm>
          <a:prstGeom prst="roundRect">
            <a:avLst>
              <a:gd name="adj" fmla="val 1212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16642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</a:rPr>
              <a:t>今天要解決什麼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04672" y="2057400"/>
            <a:ext cx="4846320" cy="3429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分解 host/link/app latency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先 inventory / baseline，再進入實驗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所有輸出要保存到 records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最後必須 verify + rollback/reset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46520" y="16642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78BFA"/>
                </a:solidFill>
              </a:rPr>
              <a:t>不要做什麼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28232" y="2057400"/>
            <a:ext cx="4846320" cy="3429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不要一開始就執行修改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不要只貼 ./verify.sh 不說明目的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不要沒有 before state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不要把 rollback 與 reset 混用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效能分析與容量規劃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05. Network / Response Time｜環境與初始紀錄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先知道你站在哪台機器、哪個目錄、哪個 service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37/60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10698480" cy="1828800"/>
          </a:xfrm>
          <a:prstGeom prst="roundRect">
            <a:avLst>
              <a:gd name="adj" fmla="val 3000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10479024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cd ~/linux-training/phase6/scenarios/05-*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mkdir -p ~/linux-training-records/phase6/05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pwd &gt; ~/linux-training-records/phase6/05/pwd.txt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hostnamectl &gt; ~/linux-training-records/phase6/05/host.txt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whoami &gt; ~/linux-training-records/phase6/05/user.txt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id &gt;&gt; ~/linux-training-records/phase6/05/user.txt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3429000"/>
            <a:ext cx="10058400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</a:rPr>
              <a:t>• 這一頁不是教指令而已，是建立操作上下文。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</a:rPr>
              <a:t>• 學生必須能回答：我在哪台機器？用什麼身份？接下來會改哪裡？</a:t>
            </a:r>
            <a:endParaRPr lang="en-US" sz="14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效能分析與容量規劃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05. Network / Response Time｜指令說明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先拆開每個 command 的用途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38/60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5212080" cy="4480560"/>
          </a:xfrm>
          <a:prstGeom prst="roundRect">
            <a:avLst>
              <a:gd name="adj" fmla="val 1224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4992624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1. ip -s link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2. ss -s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3. ping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4. iperf3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5. sar -n DEV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6. curl -w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09360" y="1417320"/>
            <a:ext cx="5029200" cy="4114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read 類指令：用來建立現況，不修改機器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verify 類指令：用來證明結果符合預期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change 類指令：要先有 backup / rollback path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同一組指令要能串成決策流程</a:t>
            </a:r>
            <a:endParaRPr lang="en-US" sz="15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效能分析與容量規劃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05. Network / Response Time｜操作流程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從 prepare 到操作，不要跳步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39/60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85800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58952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進入資料夾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11552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84704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584704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記 before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337304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10456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410456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prepare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163056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36208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4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236208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手動操作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88808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61960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5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061960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原生命令驗證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814560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887712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6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887712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verify.sh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22960" y="2788920"/>
            <a:ext cx="5394960" cy="2103120"/>
          </a:xfrm>
          <a:prstGeom prst="roundRect">
            <a:avLst>
              <a:gd name="adj" fmla="val 2609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32688" y="2880360"/>
            <a:ext cx="5175504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./prepare.sh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根據本頁目標做手動操作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例：修改 config / 建立 service / 注入 fault / restore / tune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./verify.sh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46520" y="2743200"/>
            <a:ext cx="4846320" cy="2194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throughput/error/drop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DNS/connect/TTFB/total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找 app or network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比較前後</a:t>
            </a:r>
            <a:endParaRPr lang="en-US" sz="13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效能分析與容量規劃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05. Network / Response Time｜After Record / Before-After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做完操作後再次記錄，才能知道差異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40/60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10698480" cy="3794760"/>
          </a:xfrm>
          <a:prstGeom prst="roundRect">
            <a:avLst>
              <a:gd name="adj" fmla="val 1446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10479024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date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systemctl --failed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ss -tulpn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journalctl -p err -n 30 --no-pager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} &gt; ~/linux-training-records/phase6/05/after.txt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diff -u   ~/linux-training-records/phase6/05/before.txt   ~/linux-training-records/phase6/05/after.txt   &gt; ~/linux-training-records/phase6/05/diff.txt || true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5303520"/>
            <a:ext cx="1005840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Before / After / Diff 是每個實驗的核心證據。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沒有 diff，就只是在憑印象說「好像改好了」。</a:t>
            </a:r>
            <a:endParaRPr lang="en-US" sz="13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效能分析與容量規劃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05. Network / Response Time｜Verify / Rollback / Reset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三個腳本的目的必須分清楚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41/60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31520" y="1234440"/>
            <a:ext cx="5486400" cy="3200400"/>
          </a:xfrm>
          <a:prstGeom prst="roundRect">
            <a:avLst>
              <a:gd name="adj" fmla="val 1714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1325880"/>
            <a:ext cx="5266944" cy="3035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./verify.sh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驗證目前狀態是否達成本 Lab 目標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./rollback.sh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如果本次 change 失敗，回到 change 前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./reset.sh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Lab 結束或要重練，回到 Lab 初始狀態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1508760"/>
            <a:ext cx="4663440" cy="2834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verify 不是魔法：要先知道它在驗什麼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rollback 不是 reset：rollback 回變更前，reset 回 Lab 初始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跑完 rollback/reset 後仍要再 verify 或重新 read</a:t>
            </a:r>
            <a:endParaRPr lang="en-US" sz="15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效能分析與容量規劃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06. Thread / FD / Socket｜場景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找成長型資源洩漏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42/60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94360" y="1417320"/>
            <a:ext cx="5349240" cy="4526280"/>
          </a:xfrm>
          <a:prstGeom prst="roundRect">
            <a:avLst>
              <a:gd name="adj" fmla="val 1212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0" y="1417320"/>
            <a:ext cx="5349240" cy="4526280"/>
          </a:xfrm>
          <a:prstGeom prst="roundRect">
            <a:avLst>
              <a:gd name="adj" fmla="val 1212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16642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</a:rPr>
              <a:t>今天要解決什麼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04672" y="2057400"/>
            <a:ext cx="4846320" cy="3429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找成長型資源洩漏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先 inventory / baseline，再進入實驗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所有輸出要保存到 records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最後必須 verify + rollback/reset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46520" y="16642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78BFA"/>
                </a:solidFill>
              </a:rPr>
              <a:t>不要做什麼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28232" y="2057400"/>
            <a:ext cx="4846320" cy="3429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不要一開始就執行修改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不要只貼 ./verify.sh 不說明目的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不要沒有 before state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不要把 rollback 與 reset 混用</a:t>
            </a:r>
            <a:endParaRPr lang="en-US" sz="12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效能分析與容量規劃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06. Thread / FD / Socket｜環境與初始紀錄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先知道你站在哪台機器、哪個目錄、哪個 service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43/60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10698480" cy="1828800"/>
          </a:xfrm>
          <a:prstGeom prst="roundRect">
            <a:avLst>
              <a:gd name="adj" fmla="val 3000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10479024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cd ~/linux-training/phase6/scenarios/06-*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mkdir -p ~/linux-training-records/phase6/06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pwd &gt; ~/linux-training-records/phase6/06/pwd.txt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hostnamectl &gt; ~/linux-training-records/phase6/06/host.txt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whoami &gt; ~/linux-training-records/phase6/06/user.txt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id &gt;&gt; ~/linux-training-records/phase6/06/user.txt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3429000"/>
            <a:ext cx="10058400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</a:rPr>
              <a:t>• 這一頁不是教指令而已，是建立操作上下文。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</a:rPr>
              <a:t>• 學生必須能回答：我在哪台機器？用什麼身份？接下來會改哪裡？</a:t>
            </a:r>
            <a:endParaRPr lang="en-US" sz="14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效能分析與容量規劃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06. Thread / FD / Socket｜指令說明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先拆開每個 command 的用途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44/60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5212080" cy="4480560"/>
          </a:xfrm>
          <a:prstGeom prst="roundRect">
            <a:avLst>
              <a:gd name="adj" fmla="val 1224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4992624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1. ps -eLf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2. pidstat -t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3. ulimit -n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4. lsof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5. ls /proc/PID/fd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6. ss -tan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09360" y="1417320"/>
            <a:ext cx="5029200" cy="4114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read 類指令：用來建立現況，不修改機器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verify 類指令：用來證明結果符合預期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change 類指令：要先有 backup / rollback path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同一組指令要能串成決策流程</a:t>
            </a:r>
            <a:endParaRPr lang="en-US" sz="15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效能分析與容量規劃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06. Thread / FD / Socket｜操作流程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從 prepare 到操作，不要跳步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45/60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85800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58952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進入資料夾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11552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84704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584704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記 before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337304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10456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410456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prepare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163056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36208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4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236208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手動操作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88808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61960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5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061960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原生命令驗證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814560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887712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6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887712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verify.sh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22960" y="2788920"/>
            <a:ext cx="5394960" cy="2103120"/>
          </a:xfrm>
          <a:prstGeom prst="roundRect">
            <a:avLst>
              <a:gd name="adj" fmla="val 2609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32688" y="2880360"/>
            <a:ext cx="5175504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./prepare.sh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根據本頁目標做手動操作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例：修改 config / 建立 service / 注入 fault / restore / tune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./verify.sh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46520" y="2743200"/>
            <a:ext cx="4846320" cy="2194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找 thread leak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找 FD leak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看 TIME_WAIT/SYN_RECV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調 TasksMax/LimitNOFILE/backlog</a:t>
            </a:r>
            <a:endParaRPr lang="en-US" sz="13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效能分析與容量規劃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06. Thread / FD / Socket｜After Record / Before-After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做完操作後再次記錄，才能知道差異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46/60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10698480" cy="3794760"/>
          </a:xfrm>
          <a:prstGeom prst="roundRect">
            <a:avLst>
              <a:gd name="adj" fmla="val 1446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10479024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date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systemctl --failed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ss -tulpn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journalctl -p err -n 30 --no-pager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} &gt; ~/linux-training-records/phase6/06/after.txt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diff -u   ~/linux-training-records/phase6/06/before.txt   ~/linux-training-records/phase6/06/after.txt   &gt; ~/linux-training-records/phase6/06/diff.txt || true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5303520"/>
            <a:ext cx="1005840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Before / After / Diff 是每個實驗的核心證據。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沒有 diff，就只是在憑印象說「好像改好了」。</a:t>
            </a:r>
            <a:endParaRPr lang="en-US" sz="13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效能分析與容量規劃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06. Thread / FD / Socket｜Verify / Rollback / Reset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三個腳本的目的必須分清楚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47/60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31520" y="1234440"/>
            <a:ext cx="5486400" cy="3200400"/>
          </a:xfrm>
          <a:prstGeom prst="roundRect">
            <a:avLst>
              <a:gd name="adj" fmla="val 1714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1325880"/>
            <a:ext cx="5266944" cy="3035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./verify.sh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驗證目前狀態是否達成本 Lab 目標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./rollback.sh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如果本次 change 失敗，回到 change 前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./reset.sh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Lab 結束或要重練，回到 Lab 初始狀態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1508760"/>
            <a:ext cx="4663440" cy="2834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verify 不是魔法：要先知道它在驗什麼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rollback 不是 reset：rollback 回變更前，reset 回 Lab 初始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跑完 rollback/reset 後仍要再 verify 或重新 read</a:t>
            </a:r>
            <a:endParaRPr lang="en-US" sz="15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效能分析與容量規劃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07. Tuning / Stress Test｜場景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一次只改一個變數並壓測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48/60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94360" y="1417320"/>
            <a:ext cx="5349240" cy="4526280"/>
          </a:xfrm>
          <a:prstGeom prst="roundRect">
            <a:avLst>
              <a:gd name="adj" fmla="val 1212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0" y="1417320"/>
            <a:ext cx="5349240" cy="4526280"/>
          </a:xfrm>
          <a:prstGeom prst="roundRect">
            <a:avLst>
              <a:gd name="adj" fmla="val 1212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16642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</a:rPr>
              <a:t>今天要解決什麼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04672" y="2057400"/>
            <a:ext cx="4846320" cy="3429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一次只改一個變數並壓測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先 inventory / baseline，再進入實驗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所有輸出要保存到 records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最後必須 verify + rollback/reset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46520" y="16642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78BFA"/>
                </a:solidFill>
              </a:rPr>
              <a:t>不要做什麼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28232" y="2057400"/>
            <a:ext cx="4846320" cy="3429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不要一開始就執行修改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不要只貼 ./verify.sh 不說明目的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不要沒有 before state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不要把 rollback 與 reset 混用</a:t>
            </a:r>
            <a:endParaRPr lang="en-US" sz="12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效能分析與容量規劃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07. Tuning / Stress Test｜環境與初始紀錄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先知道你站在哪台機器、哪個目錄、哪個 service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49/60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10698480" cy="1828800"/>
          </a:xfrm>
          <a:prstGeom prst="roundRect">
            <a:avLst>
              <a:gd name="adj" fmla="val 3000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10479024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cd ~/linux-training/phase6/scenarios/07-*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mkdir -p ~/linux-training-records/phase6/07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pwd &gt; ~/linux-training-records/phase6/07/pwd.txt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hostnamectl &gt; ~/linux-training-records/phase6/07/host.txt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whoami &gt; ~/linux-training-records/phase6/07/user.txt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id &gt;&gt; ~/linux-training-records/phase6/07/user.txt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3429000"/>
            <a:ext cx="10058400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</a:rPr>
              <a:t>• 這一頁不是教指令而已，是建立操作上下文。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</a:rPr>
              <a:t>• 學生必須能回答：我在哪台機器？用什麼身份？接下來會改哪裡？</a:t>
            </a:r>
            <a:endParaRPr lang="en-US" sz="14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效能分析與容量規劃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07. Tuning / Stress Test｜指令說明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先拆開每個 command 的用途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50/60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5212080" cy="4480560"/>
          </a:xfrm>
          <a:prstGeom prst="roundRect">
            <a:avLst>
              <a:gd name="adj" fmla="val 1224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4992624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1. systemctl show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2. stress-ng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3. fio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4. iperf3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5. ab/wrk/curl loop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6. journalctl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09360" y="1417320"/>
            <a:ext cx="5029200" cy="4114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read 類指令：用來建立現況，不修改機器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verify 類指令：用來證明結果符合預期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change 類指令：要先有 backup / rollback path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同一組指令要能串成決策流程</a:t>
            </a:r>
            <a:endParaRPr lang="en-US" sz="15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效能分析與容量規劃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07. Tuning / Stress Test｜操作流程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從 prepare 到操作，不要跳步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51/60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85800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58952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進入資料夾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11552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84704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584704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記 before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337304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10456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410456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prepare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163056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36208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4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236208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手動操作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88808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61960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5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061960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原生命令驗證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814560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887712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6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887712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verify.sh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22960" y="2788920"/>
            <a:ext cx="5394960" cy="2103120"/>
          </a:xfrm>
          <a:prstGeom prst="roundRect">
            <a:avLst>
              <a:gd name="adj" fmla="val 2609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32688" y="2880360"/>
            <a:ext cx="5175504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./prepare.sh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根據本頁目標做手動操作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例：修改 config / 建立 service / 注入 fault / restore / tune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./verify.sh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46520" y="2743200"/>
            <a:ext cx="4846320" cy="2194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cache/buffer/limits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相同 workload 重測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記 before/after table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若更差 rollback</a:t>
            </a:r>
            <a:endParaRPr lang="en-US" sz="13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效能分析與容量規劃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07. Tuning / Stress Test｜After Record / Before-After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做完操作後再次記錄，才能知道差異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52/60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10698480" cy="3794760"/>
          </a:xfrm>
          <a:prstGeom prst="roundRect">
            <a:avLst>
              <a:gd name="adj" fmla="val 1446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10479024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date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systemctl --failed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ss -tulpn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journalctl -p err -n 30 --no-pager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} &gt; ~/linux-training-records/phase6/07/after.txt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diff -u   ~/linux-training-records/phase6/07/before.txt   ~/linux-training-records/phase6/07/after.txt   &gt; ~/linux-training-records/phase6/07/diff.txt || true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5303520"/>
            <a:ext cx="1005840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Before / After / Diff 是每個實驗的核心證據。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沒有 diff，就只是在憑印象說「好像改好了」。</a:t>
            </a:r>
            <a:endParaRPr lang="en-US" sz="13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效能分析與容量規劃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07. Tuning / Stress Test｜Verify / Rollback / Reset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三個腳本的目的必須分清楚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53/60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31520" y="1234440"/>
            <a:ext cx="5486400" cy="3200400"/>
          </a:xfrm>
          <a:prstGeom prst="roundRect">
            <a:avLst>
              <a:gd name="adj" fmla="val 1714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1325880"/>
            <a:ext cx="5266944" cy="3035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./verify.sh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驗證目前狀態是否達成本 Lab 目標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./rollback.sh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如果本次 change 失敗，回到 change 前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./reset.sh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Lab 結束或要重練，回到 Lab 初始狀態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1508760"/>
            <a:ext cx="4663440" cy="2834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verify 不是魔法：要先知道它在驗什麼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rollback 不是 reset：rollback 回變更前，reset 回 Lab 初始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跑完 rollback/reset 後仍要再 verify 或重新 read</a:t>
            </a:r>
            <a:endParaRPr lang="en-US" sz="15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效能分析與容量規劃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08. Capacity / Scale Decision｜場景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預測還能撐多久，決定 scale up/out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54/60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94360" y="1417320"/>
            <a:ext cx="5349240" cy="4526280"/>
          </a:xfrm>
          <a:prstGeom prst="roundRect">
            <a:avLst>
              <a:gd name="adj" fmla="val 1212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0" y="1417320"/>
            <a:ext cx="5349240" cy="4526280"/>
          </a:xfrm>
          <a:prstGeom prst="roundRect">
            <a:avLst>
              <a:gd name="adj" fmla="val 1212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16642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</a:rPr>
              <a:t>今天要解決什麼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04672" y="2057400"/>
            <a:ext cx="4846320" cy="3429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預測還能撐多久，決定 scale up/out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先 inventory / baseline，再進入實驗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所有輸出要保存到 records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最後必須 verify + rollback/reset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46520" y="16642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78BFA"/>
                </a:solidFill>
              </a:rPr>
              <a:t>不要做什麼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28232" y="2057400"/>
            <a:ext cx="4846320" cy="3429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不要一開始就執行修改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不要只貼 ./verify.sh 不說明目的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不要沒有 before state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不要把 rollback 與 reset 混用</a:t>
            </a:r>
            <a:endParaRPr lang="en-US" sz="12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效能分析與容量規劃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08. Capacity / Scale Decision｜環境與初始紀錄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先知道你站在哪台機器、哪個目錄、哪個 service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55/60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10698480" cy="1828800"/>
          </a:xfrm>
          <a:prstGeom prst="roundRect">
            <a:avLst>
              <a:gd name="adj" fmla="val 3000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10479024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cd ~/linux-training/phase6/scenarios/08-*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mkdir -p ~/linux-training-records/phase6/08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pwd &gt; ~/linux-training-records/phase6/08/pwd.txt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hostnamectl &gt; ~/linux-training-records/phase6/08/host.txt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whoami &gt; ~/linux-training-records/phase6/08/user.txt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id &gt;&gt; ~/linux-training-records/phase6/08/user.txt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3429000"/>
            <a:ext cx="10058400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</a:rPr>
              <a:t>• 這一頁不是教指令而已，是建立操作上下文。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</a:rPr>
              <a:t>• 學生必須能回答：我在哪台機器？用什麼身份？接下來會改哪裡？</a:t>
            </a:r>
            <a:endParaRPr lang="en-US" sz="14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效能分析與容量規劃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08. Capacity / Scale Decision｜指令說明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先拆開每個 command 的用途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56/60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5212080" cy="4480560"/>
          </a:xfrm>
          <a:prstGeom prst="roundRect">
            <a:avLst>
              <a:gd name="adj" fmla="val 1224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4992624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1. collect metrics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2. csv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3. awk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4. python calc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5. df history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6. CPU trend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09360" y="1417320"/>
            <a:ext cx="5029200" cy="4114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read 類指令：用來建立現況，不修改機器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verify 類指令：用來證明結果符合預期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change 類指令：要先有 backup / rollback path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同一組指令要能串成決策流程</a:t>
            </a:r>
            <a:endParaRPr lang="en-US" sz="15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效能分析與容量規劃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08. Capacity / Scale Decision｜操作流程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從 prepare 到操作，不要跳步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57/60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85800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58952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進入資料夾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11552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84704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584704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記 before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337304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10456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410456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prepare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163056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36208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4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236208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手動操作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88808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61960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5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061960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原生命令驗證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814560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887712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6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887712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verify.sh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22960" y="2788920"/>
            <a:ext cx="5394960" cy="2103120"/>
          </a:xfrm>
          <a:prstGeom prst="roundRect">
            <a:avLst>
              <a:gd name="adj" fmla="val 2609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32688" y="2880360"/>
            <a:ext cx="5175504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./prepare.sh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根據本頁目標做手動操作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例：修改 config / 建立 service / 注入 fault / restore / tune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./verify.sh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46520" y="2743200"/>
            <a:ext cx="4846320" cy="2194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算 headroom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預估 CPU/RAM/Disk 成長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提出 scale up/out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交 capacity report</a:t>
            </a:r>
            <a:endParaRPr lang="en-US" sz="13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效能分析與容量規劃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08. Capacity / Scale Decision｜After Record / Before-After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做完操作後再次記錄，才能知道差異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58/60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10698480" cy="3794760"/>
          </a:xfrm>
          <a:prstGeom prst="roundRect">
            <a:avLst>
              <a:gd name="adj" fmla="val 1446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10479024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date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systemctl --failed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ss -tulpn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journalctl -p err -n 30 --no-pager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} &gt; ~/linux-training-records/phase6/08/after.txt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diff -u   ~/linux-training-records/phase6/08/before.txt   ~/linux-training-records/phase6/08/after.txt   &gt; ~/linux-training-records/phase6/08/diff.txt || true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5303520"/>
            <a:ext cx="1005840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Before / After / Diff 是每個實驗的核心證據。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沒有 diff，就只是在憑印象說「好像改好了」。</a:t>
            </a:r>
            <a:endParaRPr lang="en-US" sz="13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效能分析與容量規劃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08. Capacity / Scale Decision｜Verify / Rollback / Reset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三個腳本的目的必須分清楚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59/60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31520" y="1234440"/>
            <a:ext cx="5486400" cy="3200400"/>
          </a:xfrm>
          <a:prstGeom prst="roundRect">
            <a:avLst>
              <a:gd name="adj" fmla="val 1714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1325880"/>
            <a:ext cx="5266944" cy="3035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./verify.sh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驗證目前狀態是否達成本 Lab 目標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./rollback.sh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如果本次 change 失敗，回到 change 前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./reset.sh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Lab 結束或要重練，回到 Lab 初始狀態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1508760"/>
            <a:ext cx="4663440" cy="2834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verify 不是魔法：要先知道它在驗什麼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rollback 不是 reset：rollback 回變更前，reset 回 Lab 初始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跑完 rollback/reset 後仍要再 verify 或重新 read</a:t>
            </a:r>
            <a:endParaRPr lang="en-US" sz="15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效能分析與容量規劃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Phase 6 完成標準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最後不是看完 PPT，而是能完整跑一次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60/60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1188720" y="1417320"/>
            <a:ext cx="4846320" cy="472440"/>
          </a:xfrm>
          <a:prstGeom prst="rect">
            <a:avLst/>
          </a:prstGeom>
          <a:solidFill>
            <a:srgbClr val="1E40AF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16152" y="1463040"/>
            <a:ext cx="479145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8FAFC"/>
                </a:solidFill>
              </a:rPr>
              <a:t>項目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035040" y="1417320"/>
            <a:ext cx="4846320" cy="472440"/>
          </a:xfrm>
          <a:prstGeom prst="rect">
            <a:avLst/>
          </a:prstGeom>
          <a:solidFill>
            <a:srgbClr val="1E40AF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62472" y="1463040"/>
            <a:ext cx="479145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8FAFC"/>
                </a:solidFill>
              </a:rPr>
              <a:t>完成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188720" y="1889760"/>
            <a:ext cx="4846320" cy="47244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25296" y="1926336"/>
            <a:ext cx="477316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F8FAFC"/>
                </a:solidFill>
              </a:rPr>
              <a:t>能說明環境與主機狀態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6035040" y="1889760"/>
            <a:ext cx="4846320" cy="47244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71616" y="1926336"/>
            <a:ext cx="477316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F8FAFC"/>
                </a:solidFill>
              </a:rPr>
              <a:t>✅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188720" y="2362200"/>
            <a:ext cx="4846320" cy="472440"/>
          </a:xfrm>
          <a:prstGeom prst="rect">
            <a:avLst/>
          </a:prstGeom>
          <a:solidFill>
            <a:srgbClr val="0B1220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225296" y="2398776"/>
            <a:ext cx="477316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F8FAFC"/>
                </a:solidFill>
              </a:rPr>
              <a:t>有 before machine record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035040" y="2362200"/>
            <a:ext cx="4846320" cy="472440"/>
          </a:xfrm>
          <a:prstGeom prst="rect">
            <a:avLst/>
          </a:prstGeom>
          <a:solidFill>
            <a:srgbClr val="0B1220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71616" y="2398776"/>
            <a:ext cx="477316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F8FAFC"/>
                </a:solidFill>
              </a:rPr>
              <a:t>✅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188720" y="2834640"/>
            <a:ext cx="4846320" cy="47244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225296" y="2871216"/>
            <a:ext cx="477316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F8FAFC"/>
                </a:solidFill>
              </a:rPr>
              <a:t>能拆解指令用途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6035040" y="2834640"/>
            <a:ext cx="4846320" cy="47244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071616" y="2871216"/>
            <a:ext cx="477316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F8FAFC"/>
                </a:solidFill>
              </a:rPr>
              <a:t>✅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1188720" y="3307080"/>
            <a:ext cx="4846320" cy="472440"/>
          </a:xfrm>
          <a:prstGeom prst="rect">
            <a:avLst/>
          </a:prstGeom>
          <a:solidFill>
            <a:srgbClr val="0B1220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225296" y="3343656"/>
            <a:ext cx="477316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F8FAFC"/>
                </a:solidFill>
              </a:rPr>
              <a:t>能完成實驗操作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035040" y="3307080"/>
            <a:ext cx="4846320" cy="472440"/>
          </a:xfrm>
          <a:prstGeom prst="rect">
            <a:avLst/>
          </a:prstGeom>
          <a:solidFill>
            <a:srgbClr val="0B1220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71616" y="3343656"/>
            <a:ext cx="477316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F8FAFC"/>
                </a:solidFill>
              </a:rPr>
              <a:t>✅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1188720" y="3779520"/>
            <a:ext cx="4846320" cy="47244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225296" y="3816096"/>
            <a:ext cx="477316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F8FAFC"/>
                </a:solidFill>
              </a:rPr>
              <a:t>有 after + diff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035040" y="3779520"/>
            <a:ext cx="4846320" cy="47244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71616" y="3816096"/>
            <a:ext cx="477316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F8FAFC"/>
                </a:solidFill>
              </a:rPr>
              <a:t>✅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0" y="4251960"/>
            <a:ext cx="4846320" cy="472440"/>
          </a:xfrm>
          <a:prstGeom prst="rect">
            <a:avLst/>
          </a:prstGeom>
          <a:solidFill>
            <a:srgbClr val="0B1220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225296" y="4288536"/>
            <a:ext cx="477316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F8FAFC"/>
                </a:solidFill>
              </a:rPr>
              <a:t>verify.sh 通過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6035040" y="4251960"/>
            <a:ext cx="4846320" cy="472440"/>
          </a:xfrm>
          <a:prstGeom prst="rect">
            <a:avLst/>
          </a:prstGeom>
          <a:solidFill>
            <a:srgbClr val="0B1220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071616" y="4288536"/>
            <a:ext cx="477316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F8FAFC"/>
                </a:solidFill>
              </a:rPr>
              <a:t>✅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0" y="4724400"/>
            <a:ext cx="4846320" cy="47244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225296" y="4760976"/>
            <a:ext cx="477316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F8FAFC"/>
                </a:solidFill>
              </a:rPr>
              <a:t>rollback/reset 可說明差異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035040" y="4724400"/>
            <a:ext cx="4846320" cy="47244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71616" y="4760976"/>
            <a:ext cx="477316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F8FAFC"/>
                </a:solidFill>
              </a:rPr>
              <a:t>✅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0" y="5196840"/>
            <a:ext cx="4846320" cy="472440"/>
          </a:xfrm>
          <a:prstGeom prst="rect">
            <a:avLst/>
          </a:prstGeom>
          <a:solidFill>
            <a:srgbClr val="0B1220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225296" y="5233416"/>
            <a:ext cx="477316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F8FAFC"/>
                </a:solidFill>
              </a:rPr>
              <a:t>完成本階段 report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6035040" y="5196840"/>
            <a:ext cx="4846320" cy="472440"/>
          </a:xfrm>
          <a:prstGeom prst="rect">
            <a:avLst/>
          </a:prstGeom>
          <a:solidFill>
            <a:srgbClr val="0B1220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71616" y="5233416"/>
            <a:ext cx="477316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F8FAFC"/>
                </a:solidFill>
              </a:rPr>
              <a:t>✅</a:t>
            </a:r>
            <a:endParaRPr lang="en-US" sz="8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8BDF8"/>
                </a:solidFill>
                <a:latin typeface="Microsoft JhengHei"/>
              </a:rPr>
              <a:t>PHASE6｜常用指令族與參數變形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1F5F9"/>
                </a:solidFill>
                <a:latin typeface="Microsoft JhengHei"/>
              </a:rPr>
              <a:t>新增章節：常用指令族與情境搭配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BD5E1"/>
                </a:solidFill>
                <a:latin typeface="Microsoft JhengHei"/>
              </a:rPr>
              <a:t>這些頁面專門補「同一個指令的常用參數族」與實際場景搭配，不再只列主流程。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303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先看問題，再選指令變形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每個指令族要知道輸出代表什麼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搭配 grep/sed/awk/diff 形成操作證據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最後才進入 verify / rollback / reset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03120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ACC15"/>
                </a:solidFill>
                <a:latin typeface="Microsoft JhengHei"/>
              </a:rPr>
              <a:t>操作邏輯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743200"/>
            <a:ext cx="4846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>
                <a:solidFill>
                  <a:srgbClr val="CBD5E1"/>
                </a:solidFill>
                <a:latin typeface="Microsoft JhengHei"/>
              </a:rPr>
              <a:t>1. 先問要確認什麼</a:t>
            </a:r>
          </a:p>
          <a:p>
            <a:pPr/>
            <a:r>
              <a:rPr sz="1800">
                <a:solidFill>
                  <a:srgbClr val="CBD5E1"/>
                </a:solidFill>
                <a:latin typeface="Microsoft JhengHei"/>
              </a:rPr>
              <a:t>2. 下最小必要指令</a:t>
            </a:r>
          </a:p>
          <a:p>
            <a:pPr/>
            <a:r>
              <a:rPr sz="1800">
                <a:solidFill>
                  <a:srgbClr val="CBD5E1"/>
                </a:solidFill>
                <a:latin typeface="Microsoft JhengHei"/>
              </a:rPr>
              <a:t>3. 看輸出再決定下一步</a:t>
            </a:r>
          </a:p>
          <a:p>
            <a:pPr/>
            <a:r>
              <a:rPr sz="1800">
                <a:solidFill>
                  <a:srgbClr val="CBD5E1"/>
                </a:solidFill>
                <a:latin typeface="Microsoft JhengHei"/>
              </a:rPr>
              <a:t>4. 記錄 before/after</a:t>
            </a:r>
          </a:p>
          <a:p>
            <a:pPr/>
            <a:r>
              <a:rPr sz="1800">
                <a:solidFill>
                  <a:srgbClr val="CBD5E1"/>
                </a:solidFill>
                <a:latin typeface="Microsoft JhengHei"/>
              </a:rPr>
              <a:t>5. verify，不對就 rollback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35508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94A3B8"/>
                </a:solidFill>
                <a:latin typeface="Microsoft JhengHei"/>
              </a:rPr>
              <a:t>新增內容：command family / option variants / scenario usage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8BDF8"/>
                </a:solidFill>
                <a:latin typeface="Microsoft JhengHei"/>
              </a:rPr>
              <a:t>PHASE6｜常用指令族與參數變形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1F5F9"/>
                </a:solidFill>
                <a:latin typeface="Microsoft JhengHei"/>
              </a:rPr>
              <a:t>指令族：id / groups / getent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BD5E1"/>
                </a:solidFill>
                <a:latin typeface="Microsoft JhengHei"/>
              </a:rPr>
              <a:t>身份不是只看 whoami，而是拆 UID / GID / supplementary groups。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303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whoami：目前有效使用者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id：完整身份資訊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id -u：只看 UID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id -g：primary GID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id -G：所有群組 ID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id -nG：所有群組名稱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getent passwd/group：從系統資料庫查帳號與群組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0" y="1828800"/>
            <a:ext cx="5486400" cy="4297680"/>
          </a:xfrm>
          <a:prstGeom prst="rect">
            <a:avLst/>
          </a:prstGeom>
          <a:solidFill>
            <a:srgbClr val="020617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tIns="109728"/>
          <a:lstStyle/>
          <a:p>
            <a:pPr algn="ctr"/>
            <a:r>
              <a:rPr sz="1400">
                <a:solidFill>
                  <a:srgbClr val="E2E8F0"/>
                </a:solidFill>
                <a:latin typeface="Consolas"/>
              </a:rPr>
              <a:t>whoami
id
id -u
id -g
id -G
id -nG
getent passwd reportapp
getent group report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8BDF8"/>
                </a:solidFill>
                <a:latin typeface="Microsoft JhengHei"/>
              </a:rPr>
              <a:t>PHASE6｜常用指令族與參數變形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1F5F9"/>
                </a:solidFill>
                <a:latin typeface="Microsoft JhengHei"/>
              </a:rPr>
              <a:t>指令族：ls / stat / find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BD5E1"/>
                </a:solidFill>
                <a:latin typeface="Microsoft JhengHei"/>
              </a:rPr>
              <a:t>檔案狀態要分清楚存在、類型、owner、mode、時間與搜尋條件。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303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ls -l：看檔案類型、owner、group、mode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ls -la：包含 hidden files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stat：精準看 inode / mode / time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find -type f/d/l：依類型找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find -name：依名稱找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find -perm：找權限異常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find -mtime/-size：找時間與大小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0" y="1828800"/>
            <a:ext cx="5486400" cy="4297680"/>
          </a:xfrm>
          <a:prstGeom prst="rect">
            <a:avLst/>
          </a:prstGeom>
          <a:solidFill>
            <a:srgbClr val="020617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tIns="109728"/>
          <a:lstStyle/>
          <a:p>
            <a:pPr algn="ctr"/>
            <a:r>
              <a:rPr sz="1400">
                <a:solidFill>
                  <a:srgbClr val="E2E8F0"/>
                </a:solidFill>
                <a:latin typeface="Consolas"/>
              </a:rPr>
              <a:t>ls -la /data/report-app
stat /etc/report-app/report-app.env
find /data/report-app -type f -name '*.json'
find /data/report-app -perm -002
find /var/log -type f -size +100M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8BDF8"/>
                </a:solidFill>
                <a:latin typeface="Microsoft JhengHei"/>
              </a:rPr>
              <a:t>PHASE6｜常用指令族與參數變形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1F5F9"/>
                </a:solidFill>
                <a:latin typeface="Microsoft JhengHei"/>
              </a:rPr>
              <a:t>指令族：grep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BD5E1"/>
                </a:solidFill>
                <a:latin typeface="Microsoft JhengHei"/>
              </a:rPr>
              <a:t>grep 不是只搜尋文字，而是從大量輸出中縮小範圍。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303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grep PATTERN file：基本搜尋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grep -i：忽略大小寫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grep -n：顯示行號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grep -v：排除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grep -E：OR / extended regex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grep -A/-B/-C：帶前後文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搭配 pipe：從 command output 篩選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0" y="1828800"/>
            <a:ext cx="5486400" cy="4297680"/>
          </a:xfrm>
          <a:prstGeom prst="rect">
            <a:avLst/>
          </a:prstGeom>
          <a:solidFill>
            <a:srgbClr val="020617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tIns="109728"/>
          <a:lstStyle/>
          <a:p>
            <a:pPr algn="ctr"/>
            <a:r>
              <a:rPr sz="1400">
                <a:solidFill>
                  <a:srgbClr val="E2E8F0"/>
                </a:solidFill>
                <a:latin typeface="Consolas"/>
              </a:rPr>
              <a:t>journalctl -u report-app | grep -i error
systemctl list-units | grep report
ss -tulpn | grep ':8080'
grep -nE 'error|fail|denied' app.log
grep -C 3 'Permission denied' app.log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8BDF8"/>
                </a:solidFill>
                <a:latin typeface="Microsoft JhengHei"/>
              </a:rPr>
              <a:t>PHASE6｜常用指令族與參數變形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1F5F9"/>
                </a:solidFill>
                <a:latin typeface="Microsoft JhengHei"/>
              </a:rPr>
              <a:t>指令族：sed / awk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BD5E1"/>
                </a:solidFill>
                <a:latin typeface="Microsoft JhengHei"/>
              </a:rPr>
              <a:t>sed 處理行內替換，awk 處理欄位與報表。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303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sed -n：只印指定行/符合行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sed s/old/new/：替換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sed -i.bak：原地改並留備份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awk {print $1}：取欄位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awk 條件：依欄位過濾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搭配 sort/uniq：產生統計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0" y="1828800"/>
            <a:ext cx="5486400" cy="4297680"/>
          </a:xfrm>
          <a:prstGeom prst="rect">
            <a:avLst/>
          </a:prstGeom>
          <a:solidFill>
            <a:srgbClr val="020617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tIns="109728"/>
          <a:lstStyle/>
          <a:p>
            <a:pPr algn="ctr"/>
            <a:r>
              <a:rPr sz="1400">
                <a:solidFill>
                  <a:srgbClr val="E2E8F0"/>
                </a:solidFill>
                <a:latin typeface="Consolas"/>
              </a:rPr>
              <a:t>sed -n '1,80p' /etc/report-app/report-app.env
sed -i.bak 's/PORT=8080/PORT=8081/' app.env
awk '{print $1,$2,$3}' access.log
awk '$9 &gt;= 500 {print}' access.log
awk '{count[$1]++} END {for (k in count) print k,count[k]}' access.log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8BDF8"/>
                </a:solidFill>
                <a:latin typeface="Microsoft JhengHei"/>
              </a:rPr>
              <a:t>PHASE6｜常用指令族與參數變形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1F5F9"/>
                </a:solidFill>
                <a:latin typeface="Microsoft JhengHei"/>
              </a:rPr>
              <a:t>指令族：systemctl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BD5E1"/>
                </a:solidFill>
                <a:latin typeface="Microsoft JhengHei"/>
              </a:rPr>
              <a:t>systemd 要看 unit 狀態、設定來源、是否開機啟動與相依關係。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303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status：目前狀態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is-active：給腳本判斷 active/inactive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is-enabled：是否開機啟動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cat：看 unit 原始內容與 drop-in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show：看展開後屬性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list-dependencies：看相依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daemon-reload：unit 改完重讀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0" y="1828800"/>
            <a:ext cx="5486400" cy="4297680"/>
          </a:xfrm>
          <a:prstGeom prst="rect">
            <a:avLst/>
          </a:prstGeom>
          <a:solidFill>
            <a:srgbClr val="020617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tIns="109728"/>
          <a:lstStyle/>
          <a:p>
            <a:pPr algn="ctr"/>
            <a:r>
              <a:rPr sz="1400">
                <a:solidFill>
                  <a:srgbClr val="E2E8F0"/>
                </a:solidFill>
                <a:latin typeface="Consolas"/>
              </a:rPr>
              <a:t>systemctl status report-app
systemctl is-active report-app
systemctl is-enabled report-app
systemctl cat report-app
systemctl show report-app -p User -p Group -p ExecStart
systemctl list-dependencies report-app
sudo systemctl daemon-reload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8BDF8"/>
                </a:solidFill>
                <a:latin typeface="Microsoft JhengHei"/>
              </a:rPr>
              <a:t>PHASE6｜常用指令族與參數變形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1F5F9"/>
                </a:solidFill>
                <a:latin typeface="Microsoft JhengHei"/>
              </a:rPr>
              <a:t>指令族：journalctl / dmesg / tail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BD5E1"/>
                </a:solidFill>
                <a:latin typeface="Microsoft JhengHei"/>
              </a:rPr>
              <a:t>Log 要用時間、unit、priority、PID、keyword 縮小。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303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journalctl -u：指定 service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journalctl -p err：只看錯誤等級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journalctl --since：用時間範圍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journalctl -f：即時追蹤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dmesg：kernel/device log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tail -f：檔案 log 即時追蹤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0" y="1828800"/>
            <a:ext cx="5486400" cy="4297680"/>
          </a:xfrm>
          <a:prstGeom prst="rect">
            <a:avLst/>
          </a:prstGeom>
          <a:solidFill>
            <a:srgbClr val="020617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tIns="109728"/>
          <a:lstStyle/>
          <a:p>
            <a:pPr algn="ctr"/>
            <a:r>
              <a:rPr sz="1400">
                <a:solidFill>
                  <a:srgbClr val="E2E8F0"/>
                </a:solidFill>
                <a:latin typeface="Consolas"/>
              </a:rPr>
              <a:t>journalctl -u report-app --since '10 min ago'
journalctl -u report-app -p warning..alert
journalctl -xe
journalctl -f -u report-worker
dmesg | tail -n 50
tail -f /var/log/report-app/report-app.log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8BDF8"/>
                </a:solidFill>
                <a:latin typeface="Microsoft JhengHei"/>
              </a:rPr>
              <a:t>PHASE6｜常用指令族與參數變形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1F5F9"/>
                </a:solidFill>
                <a:latin typeface="Microsoft JhengHei"/>
              </a:rPr>
              <a:t>指令族：ip / ss / curl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BD5E1"/>
                </a:solidFill>
                <a:latin typeface="Microsoft JhengHei"/>
              </a:rPr>
              <a:t>Network 要從 interface、route、socket、HTTP 分層看。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303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ip addr：IP 與 interface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ip link：link up/down 與統計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ip route：路由表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ip route get：查單一目的地怎麼走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ss -tulpn：誰在 listen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ss -s：socket 摘要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curl -v/-w：拆 HTTP 連線時間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0" y="1828800"/>
            <a:ext cx="5486400" cy="4297680"/>
          </a:xfrm>
          <a:prstGeom prst="rect">
            <a:avLst/>
          </a:prstGeom>
          <a:solidFill>
            <a:srgbClr val="020617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tIns="109728"/>
          <a:lstStyle/>
          <a:p>
            <a:pPr algn="ctr"/>
            <a:r>
              <a:rPr sz="1400">
                <a:solidFill>
                  <a:srgbClr val="E2E8F0"/>
                </a:solidFill>
                <a:latin typeface="Consolas"/>
              </a:rPr>
              <a:t>ip addr
ip link show
ip route
ip route get 8.8.8.8
ss -tulpn
ss -s
curl -v http://127.0.0.1:8080/health
curl -w 'total=%{time_total}
' -o /dev/null -s http://127.0.0.1:8080/health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8BDF8"/>
                </a:solidFill>
                <a:latin typeface="Microsoft JhengHei"/>
              </a:rPr>
              <a:t>PHASE6｜常用指令族與參數變形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1F5F9"/>
                </a:solidFill>
                <a:latin typeface="Microsoft JhengHei"/>
              </a:rPr>
              <a:t>指令族：df / du / lsblk / findmnt / blkid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BD5E1"/>
                </a:solidFill>
                <a:latin typeface="Microsoft JhengHei"/>
              </a:rPr>
              <a:t>Storage 要分 device、filesystem、mount point、容量與 inode。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303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lsblk -f：device + FS + mount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blkid：UUID/LABEL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findmnt：實際掛載關係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df -h：容量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df -i：inode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du -xhd1：找大目錄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mount/umount：掛載與卸載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0" y="1828800"/>
            <a:ext cx="5486400" cy="4297680"/>
          </a:xfrm>
          <a:prstGeom prst="rect">
            <a:avLst/>
          </a:prstGeom>
          <a:solidFill>
            <a:srgbClr val="020617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tIns="109728"/>
          <a:lstStyle/>
          <a:p>
            <a:pPr algn="ctr"/>
            <a:r>
              <a:rPr sz="1400">
                <a:solidFill>
                  <a:srgbClr val="E2E8F0"/>
                </a:solidFill>
                <a:latin typeface="Consolas"/>
              </a:rPr>
              <a:t>lsblk -f
blkid
findmnt /data/report-app
df -h
df -i
du -xhd1 /data/report-app
mount | grep /data
sudo umount /mnt/lab-disk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8BDF8"/>
                </a:solidFill>
                <a:latin typeface="Microsoft JhengHei"/>
              </a:rPr>
              <a:t>PHASE6｜常用指令族與參數變形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1F5F9"/>
                </a:solidFill>
                <a:latin typeface="Microsoft JhengHei"/>
              </a:rPr>
              <a:t>指令族：ps / pgrep / top / lsof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BD5E1"/>
                </a:solidFill>
                <a:latin typeface="Microsoft JhengHei"/>
              </a:rPr>
              <a:t>Process 要找 PID、command、資源、open files、socket。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303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ps aux：全 process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pgrep -a：依名稱找 PID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pstree：看父子關係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top：即時資源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lsof -p：某 PID 開了什麼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lsof -i :PORT：誰占 port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/proc/PID：底層狀態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0" y="1828800"/>
            <a:ext cx="5486400" cy="4297680"/>
          </a:xfrm>
          <a:prstGeom prst="rect">
            <a:avLst/>
          </a:prstGeom>
          <a:solidFill>
            <a:srgbClr val="020617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tIns="109728"/>
          <a:lstStyle/>
          <a:p>
            <a:pPr algn="ctr"/>
            <a:r>
              <a:rPr sz="1400">
                <a:solidFill>
                  <a:srgbClr val="E2E8F0"/>
                </a:solidFill>
                <a:latin typeface="Consolas"/>
              </a:rPr>
              <a:t>ps aux | grep report
pgrep -a report-worker
pstree -ap | grep report
top
lsof -p 1234
lsof -i :8080
ls /proc/1234/fd | wc -l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8BDF8"/>
                </a:solidFill>
                <a:latin typeface="Microsoft JhengHei"/>
              </a:rPr>
              <a:t>PHASE6｜常用指令族與參數變形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1F5F9"/>
                </a:solidFill>
                <a:latin typeface="Microsoft JhengHei"/>
              </a:rPr>
              <a:t>指令族：tar / rsync / diff / checksum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BD5E1"/>
                </a:solidFill>
                <a:latin typeface="Microsoft JhengHei"/>
              </a:rPr>
              <a:t>Backup/restore/migration 一定要驗證內容一致性。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303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tar -tf：先看壓縮檔內容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tar -xf：解出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rsync -a：保留屬性同步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rsync --dry-run：先預演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diff -r：比較目錄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sha256sum：檢查檔案一致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find + sort + checksum：做 manifest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0" y="1828800"/>
            <a:ext cx="5486400" cy="4297680"/>
          </a:xfrm>
          <a:prstGeom prst="rect">
            <a:avLst/>
          </a:prstGeom>
          <a:solidFill>
            <a:srgbClr val="020617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tIns="109728"/>
          <a:lstStyle/>
          <a:p>
            <a:pPr algn="ctr"/>
            <a:r>
              <a:rPr sz="1400">
                <a:solidFill>
                  <a:srgbClr val="E2E8F0"/>
                </a:solidFill>
                <a:latin typeface="Consolas"/>
              </a:rPr>
              <a:t>tar -tf backup.tar.gz | head
tar -xf backup.tar.gz -C restore/
rsync -a --dry-run src/ dst/
rsync -a src/ dst/
diff -r src/ dst/
sha256sum report-001.json
find data -type f -print0 | sort -z | xargs -0 sha256sum &gt; manifest.txt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8BDF8"/>
                </a:solidFill>
                <a:latin typeface="Microsoft JhengHei"/>
              </a:rPr>
              <a:t>PHASE6｜常用指令族與參數變形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1F5F9"/>
                </a:solidFill>
                <a:latin typeface="Microsoft JhengHei"/>
              </a:rPr>
              <a:t>Phase 6 指令族重點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BD5E1"/>
                </a:solidFill>
                <a:latin typeface="Microsoft JhengHei"/>
              </a:rPr>
              <a:t>效能調校先 baseline，再 measure，不先亂改。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303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top/ps/pidstat：找 CPU/RAM process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free/vmstat：看 memory pressure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iostat/fio：看 Disk I/O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ss/curl -w：看 socket/HTTP latency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stress-ng/iperf3：製造 workload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before-after.csv：記錄比較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0" y="1828800"/>
            <a:ext cx="5486400" cy="4297680"/>
          </a:xfrm>
          <a:prstGeom prst="rect">
            <a:avLst/>
          </a:prstGeom>
          <a:solidFill>
            <a:srgbClr val="020617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tIns="109728"/>
          <a:lstStyle/>
          <a:p>
            <a:pPr algn="ctr"/>
            <a:r>
              <a:rPr sz="1400">
                <a:solidFill>
                  <a:srgbClr val="E2E8F0"/>
                </a:solidFill>
                <a:latin typeface="Consolas"/>
              </a:rPr>
              <a:t>top
ps aux --sort=-%cpu | head
free -h
vmstat 1 5
iostat -xz 1 5
ss -s
curl -w 'connect=%{time_connect} ttfb=%{time_starttransfer} total=%{time_total}
' -o /dev/null -s http://127.0.0.1:8080/health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8BDF8"/>
                </a:solidFill>
                <a:latin typeface="Microsoft JhengHei"/>
              </a:rPr>
              <a:t>PHASE6｜常用指令族與參數變形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1F5F9"/>
                </a:solidFill>
                <a:latin typeface="Microsoft JhengHei"/>
              </a:rPr>
              <a:t>練習方式：一頁一個指令族，一次只解一個問題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BD5E1"/>
                </a:solidFill>
                <a:latin typeface="Microsoft JhengHei"/>
              </a:rPr>
              <a:t>學生要能回答：我為什麼下這個指令？這個參數讓我多知道什麼？下一步依據什麼決定？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303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不要把一串指令當咒語貼上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每次只新增一個觀察角度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輸出要保存成紀錄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能用 diff / grep 比較差異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verify.sh 是最後驗收，不是第一步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0" y="1828800"/>
            <a:ext cx="5486400" cy="4297680"/>
          </a:xfrm>
          <a:prstGeom prst="rect">
            <a:avLst/>
          </a:prstGeom>
          <a:solidFill>
            <a:srgbClr val="020617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tIns="109728"/>
          <a:lstStyle/>
          <a:p>
            <a:pPr algn="ctr"/>
            <a:r>
              <a:rPr sz="1400">
                <a:solidFill>
                  <a:srgbClr val="E2E8F0"/>
                </a:solidFill>
                <a:latin typeface="Consolas"/>
              </a:rPr>
              <a:t># Example training rhythm
question='誰在執行服務？'
systemctl show report-app -p User -p Group
question='服務有沒有錯誤？'
journalctl -u report-app --since '10 min ago' | grep -iE 'error|fail|denied'
question='修改前後差異？'
diff -u before.txt after.txt || true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CJK T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T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60</Slides>
  <Notes>60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Linux Training Phase Deck</dc:title>
  <dc:subject>Linux Training</dc:subject>
  <dc:creator>OpenAI</dc:creator>
  <cp:lastModifiedBy>OpenAI</cp:lastModifiedBy>
  <cp:revision>1</cp:revision>
  <dcterms:created xsi:type="dcterms:W3CDTF">2026-09-12T18:16:33Z</dcterms:created>
  <dcterms:modified xsi:type="dcterms:W3CDTF">2026-09-12T18:16:33Z</dcterms:modified>
</cp:coreProperties>
</file>