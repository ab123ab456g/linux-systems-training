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10698480" cy="548640"/>
          </a:xfrm>
          <a:prstGeom prst="rect">
            <a:avLst/>
          </a:prstGeom>
          <a:noFill/>
        </p:spPr>
        <p:txBody>
          <a:bodyPr wrap="square">
            <a:spAutoFit/>
          </a:bodyPr>
          <a:lstStyle/>
          <a:p>
            <a:r>
              <a:rPr sz="3600" b="1">
                <a:solidFill>
                  <a:srgbClr val="1F2937"/>
                </a:solidFill>
                <a:latin typeface="Arial"/>
              </a:rPr>
              <a:t>Phase 8｜進階系統管理與基礎設施維運</a:t>
            </a:r>
          </a:p>
        </p:txBody>
      </p:sp>
      <p:sp>
        <p:nvSpPr>
          <p:cNvPr id="5" name="TextBox 4"/>
          <p:cNvSpPr txBox="1"/>
          <p:nvPr/>
        </p:nvSpPr>
        <p:spPr>
          <a:xfrm>
            <a:off x="731520" y="2103120"/>
            <a:ext cx="10241280" cy="411480"/>
          </a:xfrm>
          <a:prstGeom prst="rect">
            <a:avLst/>
          </a:prstGeom>
          <a:noFill/>
        </p:spPr>
        <p:txBody>
          <a:bodyPr wrap="square">
            <a:spAutoFit/>
          </a:bodyPr>
          <a:lstStyle/>
          <a:p>
            <a:r>
              <a:rPr sz="2000" b="0">
                <a:solidFill>
                  <a:srgbClr val="5B6B7E"/>
                </a:solidFill>
                <a:latin typeface="Arial"/>
              </a:rPr>
              <a:t>Inventory / Plan / Prepare / Change</a:t>
            </a:r>
          </a:p>
        </p:txBody>
      </p:sp>
      <p:sp>
        <p:nvSpPr>
          <p:cNvPr id="6" name="TextBox 5"/>
          <p:cNvSpPr txBox="1"/>
          <p:nvPr/>
        </p:nvSpPr>
        <p:spPr>
          <a:xfrm>
            <a:off x="822960" y="3017520"/>
            <a:ext cx="9875520" cy="1371600"/>
          </a:xfrm>
          <a:prstGeom prst="rect">
            <a:avLst/>
          </a:prstGeom>
          <a:noFill/>
        </p:spPr>
        <p:txBody>
          <a:bodyPr wrap="square">
            <a:spAutoFit/>
          </a:bodyPr>
          <a:lstStyle/>
          <a:p>
            <a:pPr>
              <a:defRPr sz="2200">
                <a:solidFill>
                  <a:srgbClr val="1F2937"/>
                </a:solidFill>
                <a:latin typeface="Arial"/>
              </a:defRPr>
            </a:pPr>
            <a:r>
              <a:t>從單機 Linux 管理擴展到自動化、多機、容器、Infra 與 IaC。</a:t>
            </a:r>
          </a:p>
          <a:p>
            <a:pPr>
              <a:defRPr sz="2200">
                <a:solidFill>
                  <a:srgbClr val="1F2937"/>
                </a:solidFill>
                <a:latin typeface="Arial"/>
              </a:defRPr>
            </a:pPr>
            <a:r>
              <a:t>目標：形成可教、可練、可驗證、可回復的 Linux 操作流程。</a:t>
            </a:r>
          </a:p>
        </p:txBody>
      </p:sp>
      <p:sp>
        <p:nvSpPr>
          <p:cNvPr id="7" name="TextBox 6"/>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本次大綱</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故事背景</a:t>
            </a:r>
          </a:p>
          <a:p>
            <a:pPr>
              <a:defRPr sz="2000">
                <a:solidFill>
                  <a:srgbClr val="1F2937"/>
                </a:solidFill>
                <a:latin typeface="Arial"/>
              </a:defRPr>
            </a:pPr>
            <a:r>
              <a:t>系統狀態</a:t>
            </a:r>
          </a:p>
          <a:p>
            <a:pPr>
              <a:defRPr sz="2000">
                <a:solidFill>
                  <a:srgbClr val="1F2937"/>
                </a:solidFill>
                <a:latin typeface="Arial"/>
              </a:defRPr>
            </a:pPr>
            <a:r>
              <a:t>Workflow</a:t>
            </a:r>
          </a:p>
          <a:p>
            <a:pPr>
              <a:defRPr sz="2000">
                <a:solidFill>
                  <a:srgbClr val="1F2937"/>
                </a:solidFill>
                <a:latin typeface="Arial"/>
              </a:defRPr>
            </a:pPr>
            <a:r>
              <a:t>指令組合</a:t>
            </a:r>
          </a:p>
          <a:p>
            <a:pPr>
              <a:defRPr sz="2000">
                <a:solidFill>
                  <a:srgbClr val="1F2937"/>
                </a:solidFill>
                <a:latin typeface="Arial"/>
              </a:defRPr>
            </a:pPr>
            <a:r>
              <a:t>Lab / Scenario</a:t>
            </a:r>
          </a:p>
          <a:p>
            <a:pPr>
              <a:defRPr sz="2000">
                <a:solidFill>
                  <a:srgbClr val="1F2937"/>
                </a:solidFill>
                <a:latin typeface="Arial"/>
              </a:defRPr>
            </a:pPr>
            <a:r>
              <a:t>Verify / Rollback</a:t>
            </a:r>
          </a:p>
          <a:p>
            <a:pPr>
              <a:defRPr sz="2000">
                <a:solidFill>
                  <a:srgbClr val="1F2937"/>
                </a:solidFill>
                <a:latin typeface="Arial"/>
              </a:defRPr>
            </a:pPr>
            <a:r>
              <a:t>交付物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學習目標</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能把手動流程自動化</a:t>
            </a:r>
          </a:p>
          <a:p>
            <a:pPr>
              <a:defRPr sz="2000">
                <a:solidFill>
                  <a:srgbClr val="1F2937"/>
                </a:solidFill>
                <a:latin typeface="Arial"/>
              </a:defRPr>
            </a:pPr>
            <a:r>
              <a:t>能多機管理</a:t>
            </a:r>
          </a:p>
          <a:p>
            <a:pPr>
              <a:defRPr sz="2000">
                <a:solidFill>
                  <a:srgbClr val="1F2937"/>
                </a:solidFill>
                <a:latin typeface="Arial"/>
              </a:defRPr>
            </a:pPr>
            <a:r>
              <a:t>能操作 Container/Infra</a:t>
            </a:r>
          </a:p>
          <a:p>
            <a:pPr>
              <a:defRPr sz="2000">
                <a:solidFill>
                  <a:srgbClr val="1F2937"/>
                </a:solidFill>
                <a:latin typeface="Arial"/>
              </a:defRPr>
            </a:pPr>
            <a:r>
              <a:t>能導入 IaC desired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教學節奏</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先給場景，再給指令</a:t>
            </a:r>
          </a:p>
          <a:p>
            <a:pPr>
              <a:defRPr sz="2000">
                <a:solidFill>
                  <a:srgbClr val="1F2937"/>
                </a:solidFill>
                <a:latin typeface="Arial"/>
              </a:defRPr>
            </a:pPr>
            <a:r>
              <a:t>先讀狀態，再做變更</a:t>
            </a:r>
          </a:p>
          <a:p>
            <a:pPr>
              <a:defRPr sz="2000">
                <a:solidFill>
                  <a:srgbClr val="1F2937"/>
                </a:solidFill>
                <a:latin typeface="Arial"/>
              </a:defRPr>
            </a:pPr>
            <a:r>
              <a:t>每一段都要 verify</a:t>
            </a:r>
          </a:p>
          <a:p>
            <a:pPr>
              <a:defRPr sz="2000">
                <a:solidFill>
                  <a:srgbClr val="1F2937"/>
                </a:solidFill>
                <a:latin typeface="Arial"/>
              </a:defRPr>
            </a:pPr>
            <a:r>
              <a:t>最後必須 rollback/reset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安全邊界</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危險操作優先在 runtime sandbox</a:t>
            </a:r>
          </a:p>
          <a:p>
            <a:pPr>
              <a:defRPr sz="2000">
                <a:solidFill>
                  <a:srgbClr val="1F2937"/>
                </a:solidFill>
                <a:latin typeface="Arial"/>
              </a:defRPr>
            </a:pPr>
            <a:r>
              <a:t>真實 user/systemd/firewall 需明確確認</a:t>
            </a:r>
          </a:p>
          <a:p>
            <a:pPr>
              <a:defRPr sz="2000">
                <a:solidFill>
                  <a:srgbClr val="1F2937"/>
                </a:solidFill>
                <a:latin typeface="Arial"/>
              </a:defRPr>
            </a:pPr>
            <a:r>
              <a:t>每次變更前先保存 before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資料與檔案位置</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6/60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phase*/labs 或 phase*/scenarios</a:t>
            </a:r>
          </a:p>
          <a:p>
            <a:pPr>
              <a:defRPr sz="2000">
                <a:solidFill>
                  <a:srgbClr val="1F2937"/>
                </a:solidFill>
                <a:latin typeface="Arial"/>
              </a:defRPr>
            </a:pPr>
            <a:r>
              <a:t>common/report-app 與 common/report-worker</a:t>
            </a:r>
          </a:p>
          <a:p>
            <a:pPr>
              <a:defRPr sz="2000">
                <a:solidFill>
                  <a:srgbClr val="1F2937"/>
                </a:solidFill>
                <a:latin typeface="Arial"/>
              </a:defRPr>
            </a:pPr>
            <a:r>
              <a:t>runtime/ 保存訓練狀態</a:t>
            </a:r>
          </a:p>
          <a:p>
            <a:pPr>
              <a:defRPr sz="2000">
                <a:solidFill>
                  <a:srgbClr val="1F2937"/>
                </a:solidFill>
                <a:latin typeface="Arial"/>
              </a:defRPr>
            </a:pPr>
            <a:r>
              <a:t>tests/ 驗證腳本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Workflow 主流程</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Inventory / Plan / Prepare / Change</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7/60</a:t>
            </a:r>
          </a:p>
        </p:txBody>
      </p:sp>
      <p:sp>
        <p:nvSpPr>
          <p:cNvPr id="7" name="Rounded Rectangle 6"/>
          <p:cNvSpPr/>
          <p:nvPr/>
        </p:nvSpPr>
        <p:spPr>
          <a:xfrm>
            <a:off x="594360" y="2194560"/>
            <a:ext cx="1234440" cy="7315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Inventory</a:t>
            </a:r>
          </a:p>
        </p:txBody>
      </p:sp>
      <p:sp>
        <p:nvSpPr>
          <p:cNvPr id="8" name="TextBox 7"/>
          <p:cNvSpPr txBox="1"/>
          <p:nvPr/>
        </p:nvSpPr>
        <p:spPr>
          <a:xfrm>
            <a:off x="1847088" y="2395728"/>
            <a:ext cx="137160" cy="182880"/>
          </a:xfrm>
          <a:prstGeom prst="rect">
            <a:avLst/>
          </a:prstGeom>
          <a:noFill/>
        </p:spPr>
        <p:txBody>
          <a:bodyPr wrap="square">
            <a:spAutoFit/>
          </a:bodyPr>
          <a:lstStyle/>
          <a:p>
            <a:r>
              <a:rPr sz="1800" b="1">
                <a:solidFill>
                  <a:srgbClr val="5B6B7E"/>
                </a:solidFill>
                <a:latin typeface="Arial"/>
              </a:rPr>
              <a:t>→</a:t>
            </a:r>
          </a:p>
        </p:txBody>
      </p:sp>
      <p:sp>
        <p:nvSpPr>
          <p:cNvPr id="9" name="Rounded Rectangle 8"/>
          <p:cNvSpPr/>
          <p:nvPr/>
        </p:nvSpPr>
        <p:spPr>
          <a:xfrm>
            <a:off x="1993392" y="2194560"/>
            <a:ext cx="1234440" cy="7315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Plan</a:t>
            </a:r>
          </a:p>
        </p:txBody>
      </p:sp>
      <p:sp>
        <p:nvSpPr>
          <p:cNvPr id="10" name="TextBox 9"/>
          <p:cNvSpPr txBox="1"/>
          <p:nvPr/>
        </p:nvSpPr>
        <p:spPr>
          <a:xfrm>
            <a:off x="3246120" y="2395728"/>
            <a:ext cx="137160" cy="182880"/>
          </a:xfrm>
          <a:prstGeom prst="rect">
            <a:avLst/>
          </a:prstGeom>
          <a:noFill/>
        </p:spPr>
        <p:txBody>
          <a:bodyPr wrap="square">
            <a:spAutoFit/>
          </a:bodyPr>
          <a:lstStyle/>
          <a:p>
            <a:r>
              <a:rPr sz="1800" b="1">
                <a:solidFill>
                  <a:srgbClr val="5B6B7E"/>
                </a:solidFill>
                <a:latin typeface="Arial"/>
              </a:rPr>
              <a:t>→</a:t>
            </a:r>
          </a:p>
        </p:txBody>
      </p:sp>
      <p:sp>
        <p:nvSpPr>
          <p:cNvPr id="11" name="Rounded Rectangle 10"/>
          <p:cNvSpPr/>
          <p:nvPr/>
        </p:nvSpPr>
        <p:spPr>
          <a:xfrm>
            <a:off x="3392424" y="2194560"/>
            <a:ext cx="1234440" cy="7315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Prepare</a:t>
            </a:r>
          </a:p>
        </p:txBody>
      </p:sp>
      <p:sp>
        <p:nvSpPr>
          <p:cNvPr id="12" name="TextBox 11"/>
          <p:cNvSpPr txBox="1"/>
          <p:nvPr/>
        </p:nvSpPr>
        <p:spPr>
          <a:xfrm>
            <a:off x="4645152" y="2395728"/>
            <a:ext cx="137160" cy="182880"/>
          </a:xfrm>
          <a:prstGeom prst="rect">
            <a:avLst/>
          </a:prstGeom>
          <a:noFill/>
        </p:spPr>
        <p:txBody>
          <a:bodyPr wrap="square">
            <a:spAutoFit/>
          </a:bodyPr>
          <a:lstStyle/>
          <a:p>
            <a:r>
              <a:rPr sz="1800" b="1">
                <a:solidFill>
                  <a:srgbClr val="5B6B7E"/>
                </a:solidFill>
                <a:latin typeface="Arial"/>
              </a:rPr>
              <a:t>→</a:t>
            </a:r>
          </a:p>
        </p:txBody>
      </p:sp>
      <p:sp>
        <p:nvSpPr>
          <p:cNvPr id="13" name="Rounded Rectangle 12"/>
          <p:cNvSpPr/>
          <p:nvPr/>
        </p:nvSpPr>
        <p:spPr>
          <a:xfrm>
            <a:off x="4791456" y="2194560"/>
            <a:ext cx="1234440" cy="7315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Change</a:t>
            </a:r>
          </a:p>
        </p:txBody>
      </p:sp>
      <p:sp>
        <p:nvSpPr>
          <p:cNvPr id="14" name="TextBox 13"/>
          <p:cNvSpPr txBox="1"/>
          <p:nvPr/>
        </p:nvSpPr>
        <p:spPr>
          <a:xfrm>
            <a:off x="6044183" y="2395728"/>
            <a:ext cx="137160" cy="182880"/>
          </a:xfrm>
          <a:prstGeom prst="rect">
            <a:avLst/>
          </a:prstGeom>
          <a:noFill/>
        </p:spPr>
        <p:txBody>
          <a:bodyPr wrap="square">
            <a:spAutoFit/>
          </a:bodyPr>
          <a:lstStyle/>
          <a:p>
            <a:r>
              <a:rPr sz="1800" b="1">
                <a:solidFill>
                  <a:srgbClr val="5B6B7E"/>
                </a:solidFill>
                <a:latin typeface="Arial"/>
              </a:rPr>
              <a:t>→</a:t>
            </a:r>
          </a:p>
        </p:txBody>
      </p:sp>
      <p:sp>
        <p:nvSpPr>
          <p:cNvPr id="15" name="Rounded Rectangle 14"/>
          <p:cNvSpPr/>
          <p:nvPr/>
        </p:nvSpPr>
        <p:spPr>
          <a:xfrm>
            <a:off x="6190488" y="2194560"/>
            <a:ext cx="1234440" cy="7315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Verify</a:t>
            </a:r>
          </a:p>
        </p:txBody>
      </p:sp>
      <p:sp>
        <p:nvSpPr>
          <p:cNvPr id="16" name="TextBox 15"/>
          <p:cNvSpPr txBox="1"/>
          <p:nvPr/>
        </p:nvSpPr>
        <p:spPr>
          <a:xfrm>
            <a:off x="7443216" y="2395728"/>
            <a:ext cx="137160" cy="182880"/>
          </a:xfrm>
          <a:prstGeom prst="rect">
            <a:avLst/>
          </a:prstGeom>
          <a:noFill/>
        </p:spPr>
        <p:txBody>
          <a:bodyPr wrap="square">
            <a:spAutoFit/>
          </a:bodyPr>
          <a:lstStyle/>
          <a:p>
            <a:r>
              <a:rPr sz="1800" b="1">
                <a:solidFill>
                  <a:srgbClr val="5B6B7E"/>
                </a:solidFill>
                <a:latin typeface="Arial"/>
              </a:rPr>
              <a:t>→</a:t>
            </a:r>
          </a:p>
        </p:txBody>
      </p:sp>
      <p:sp>
        <p:nvSpPr>
          <p:cNvPr id="17" name="Rounded Rectangle 16"/>
          <p:cNvSpPr/>
          <p:nvPr/>
        </p:nvSpPr>
        <p:spPr>
          <a:xfrm>
            <a:off x="7589520" y="2194560"/>
            <a:ext cx="1234440" cy="7315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Monitor</a:t>
            </a:r>
          </a:p>
        </p:txBody>
      </p:sp>
      <p:sp>
        <p:nvSpPr>
          <p:cNvPr id="18" name="TextBox 17"/>
          <p:cNvSpPr txBox="1"/>
          <p:nvPr/>
        </p:nvSpPr>
        <p:spPr>
          <a:xfrm>
            <a:off x="8842248" y="2395728"/>
            <a:ext cx="137160" cy="182880"/>
          </a:xfrm>
          <a:prstGeom prst="rect">
            <a:avLst/>
          </a:prstGeom>
          <a:noFill/>
        </p:spPr>
        <p:txBody>
          <a:bodyPr wrap="square">
            <a:spAutoFit/>
          </a:bodyPr>
          <a:lstStyle/>
          <a:p>
            <a:r>
              <a:rPr sz="1800" b="1">
                <a:solidFill>
                  <a:srgbClr val="5B6B7E"/>
                </a:solidFill>
                <a:latin typeface="Arial"/>
              </a:rPr>
              <a:t>→</a:t>
            </a:r>
          </a:p>
        </p:txBody>
      </p:sp>
      <p:sp>
        <p:nvSpPr>
          <p:cNvPr id="19" name="Rounded Rectangle 18"/>
          <p:cNvSpPr/>
          <p:nvPr/>
        </p:nvSpPr>
        <p:spPr>
          <a:xfrm>
            <a:off x="8988552" y="2194560"/>
            <a:ext cx="1234440" cy="73152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Rollback</a:t>
            </a:r>
          </a:p>
        </p:txBody>
      </p:sp>
      <p:sp>
        <p:nvSpPr>
          <p:cNvPr id="20" name="TextBox 19"/>
          <p:cNvSpPr txBox="1"/>
          <p:nvPr/>
        </p:nvSpPr>
        <p:spPr>
          <a:xfrm>
            <a:off x="10241280" y="2395728"/>
            <a:ext cx="137160" cy="182880"/>
          </a:xfrm>
          <a:prstGeom prst="rect">
            <a:avLst/>
          </a:prstGeom>
          <a:noFill/>
        </p:spPr>
        <p:txBody>
          <a:bodyPr wrap="square">
            <a:spAutoFit/>
          </a:bodyPr>
          <a:lstStyle/>
          <a:p>
            <a:r>
              <a:rPr sz="1800" b="1">
                <a:solidFill>
                  <a:srgbClr val="5B6B7E"/>
                </a:solidFill>
                <a:latin typeface="Arial"/>
              </a:rPr>
              <a:t>→</a:t>
            </a:r>
          </a:p>
        </p:txBody>
      </p:sp>
      <p:sp>
        <p:nvSpPr>
          <p:cNvPr id="21" name="Rounded Rectangle 20"/>
          <p:cNvSpPr/>
          <p:nvPr/>
        </p:nvSpPr>
        <p:spPr>
          <a:xfrm>
            <a:off x="10387584" y="2194560"/>
            <a:ext cx="1234440" cy="731520"/>
          </a:xfrm>
          <a:prstGeom prst="round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Automate</a:t>
            </a:r>
          </a:p>
        </p:txBody>
      </p:sp>
      <p:sp>
        <p:nvSpPr>
          <p:cNvPr id="22" name="TextBox 21"/>
          <p:cNvSpPr txBox="1"/>
          <p:nvPr/>
        </p:nvSpPr>
        <p:spPr>
          <a:xfrm>
            <a:off x="868680" y="3703320"/>
            <a:ext cx="10515600" cy="1188720"/>
          </a:xfrm>
          <a:prstGeom prst="rect">
            <a:avLst/>
          </a:prstGeom>
          <a:noFill/>
        </p:spPr>
        <p:txBody>
          <a:bodyPr wrap="square">
            <a:spAutoFit/>
          </a:bodyPr>
          <a:lstStyle/>
          <a:p>
            <a:pPr>
              <a:defRPr sz="2000">
                <a:solidFill>
                  <a:srgbClr val="1F2937"/>
                </a:solidFill>
                <a:latin typeface="Arial"/>
              </a:defRPr>
            </a:pPr>
            <a:r>
              <a:t>從單機 Linux 管理擴展到自動化、多機、容器、Infra 與 IaC。</a:t>
            </a:r>
          </a:p>
          <a:p>
            <a:pPr>
              <a:defRPr sz="2000">
                <a:solidFill>
                  <a:srgbClr val="1F2937"/>
                </a:solidFill>
                <a:latin typeface="Arial"/>
              </a:defRPr>
            </a:pPr>
            <a:r>
              <a:t>每一步都要留下可驗證證據；失敗要能 rollback/reset。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系統故事與服務關係</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8/60</a:t>
            </a:r>
          </a:p>
        </p:txBody>
      </p:sp>
      <p:sp>
        <p:nvSpPr>
          <p:cNvPr id="7" name="Rounded Rectangle 6"/>
          <p:cNvSpPr/>
          <p:nvPr/>
        </p:nvSpPr>
        <p:spPr>
          <a:xfrm>
            <a:off x="731520" y="1463040"/>
            <a:ext cx="2194560" cy="7315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Linux Server</a:t>
            </a:r>
          </a:p>
        </p:txBody>
      </p:sp>
      <p:sp>
        <p:nvSpPr>
          <p:cNvPr id="8" name="Rounded Rectangle 7"/>
          <p:cNvSpPr/>
          <p:nvPr/>
        </p:nvSpPr>
        <p:spPr>
          <a:xfrm>
            <a:off x="3657600" y="1463040"/>
            <a:ext cx="2286000" cy="7315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Report App :8080</a:t>
            </a:r>
          </a:p>
        </p:txBody>
      </p:sp>
      <p:sp>
        <p:nvSpPr>
          <p:cNvPr id="9" name="Rounded Rectangle 8"/>
          <p:cNvSpPr/>
          <p:nvPr/>
        </p:nvSpPr>
        <p:spPr>
          <a:xfrm>
            <a:off x="6583680" y="1463040"/>
            <a:ext cx="2286000" cy="7315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Report Worker</a:t>
            </a:r>
          </a:p>
        </p:txBody>
      </p:sp>
      <p:sp>
        <p:nvSpPr>
          <p:cNvPr id="10" name="Rounded Rectangle 9"/>
          <p:cNvSpPr/>
          <p:nvPr/>
        </p:nvSpPr>
        <p:spPr>
          <a:xfrm>
            <a:off x="3657600" y="3108960"/>
            <a:ext cx="2926080" cy="7315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Data / Logs / Config</a:t>
            </a:r>
          </a:p>
        </p:txBody>
      </p:sp>
      <p:sp>
        <p:nvSpPr>
          <p:cNvPr id="11" name="Rounded Rectangle 10"/>
          <p:cNvSpPr/>
          <p:nvPr/>
        </p:nvSpPr>
        <p:spPr>
          <a:xfrm>
            <a:off x="7315200" y="3108960"/>
            <a:ext cx="2468880" cy="7315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Scripts / Tests</a:t>
            </a:r>
          </a:p>
        </p:txBody>
      </p:sp>
      <p:sp>
        <p:nvSpPr>
          <p:cNvPr id="12" name="TextBox 11"/>
          <p:cNvSpPr txBox="1"/>
          <p:nvPr/>
        </p:nvSpPr>
        <p:spPr>
          <a:xfrm>
            <a:off x="822960" y="4572000"/>
            <a:ext cx="10607040" cy="914400"/>
          </a:xfrm>
          <a:prstGeom prst="rect">
            <a:avLst/>
          </a:prstGeom>
          <a:noFill/>
        </p:spPr>
        <p:txBody>
          <a:bodyPr wrap="square">
            <a:spAutoFit/>
          </a:bodyPr>
          <a:lstStyle/>
          <a:p>
            <a:pPr>
              <a:defRPr sz="2000">
                <a:solidFill>
                  <a:srgbClr val="1F2937"/>
                </a:solidFill>
                <a:latin typeface="Arial"/>
              </a:defRPr>
            </a:pPr>
            <a:r>
              <a:t>同一套 Report 系統從接手、故障、建置、維運、恢復、效能、安全一路延伸。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核心指令地圖</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常用指令搭配</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9/60</a:t>
            </a:r>
          </a:p>
        </p:txBody>
      </p:sp>
      <p:sp>
        <p:nvSpPr>
          <p:cNvPr id="7" name="Rounded Rectangle 6"/>
          <p:cNvSpPr/>
          <p:nvPr/>
        </p:nvSpPr>
        <p:spPr>
          <a:xfrm>
            <a:off x="731520" y="1325880"/>
            <a:ext cx="10698480" cy="438912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600">
                <a:solidFill>
                  <a:srgbClr val="E5E7EB"/>
                </a:solidFill>
                <a:latin typeface="Consolas"/>
              </a:rPr>
              <a:t>script timer lock log
request approve audit revoke
rsync checksum switch
release current symlink
systemd target dependency
ssh scp rsync loop
docker image run logs
LVM bridge VLAN NAT
lspci modprobe sysctl
Nginx PostgreSQL Redis</a:t>
            </a:r>
          </a:p>
        </p:txBody>
      </p:sp>
      <p:sp>
        <p:nvSpPr>
          <p:cNvPr id="8" name="TextBox 7"/>
          <p:cNvSpPr txBox="1"/>
          <p:nvPr/>
        </p:nvSpPr>
        <p:spPr>
          <a:xfrm>
            <a:off x="822960" y="5806440"/>
            <a:ext cx="10424160" cy="548640"/>
          </a:xfrm>
          <a:prstGeom prst="rect">
            <a:avLst/>
          </a:prstGeom>
          <a:noFill/>
        </p:spPr>
        <p:txBody>
          <a:bodyPr wrap="square">
            <a:spAutoFit/>
          </a:bodyPr>
          <a:lstStyle/>
          <a:p>
            <a:pPr>
              <a:defRPr sz="1600">
                <a:solidFill>
                  <a:srgbClr val="1F2937"/>
                </a:solidFill>
                <a:latin typeface="Arial"/>
              </a:defRPr>
            </a:pPr>
            <a:r>
              <a:t>教學要求：說明每個指令的目的、輸出怎麼判斷、下一步如何決策。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完成標準</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10/60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能說明目前狀態</a:t>
            </a:r>
          </a:p>
          <a:p>
            <a:pPr>
              <a:defRPr sz="2000">
                <a:solidFill>
                  <a:srgbClr val="1F2937"/>
                </a:solidFill>
                <a:latin typeface="Arial"/>
              </a:defRPr>
            </a:pPr>
            <a:r>
              <a:t>能指出風險與下一步</a:t>
            </a:r>
          </a:p>
          <a:p>
            <a:pPr>
              <a:defRPr sz="2000">
                <a:solidFill>
                  <a:srgbClr val="1F2937"/>
                </a:solidFill>
                <a:latin typeface="Arial"/>
              </a:defRPr>
            </a:pPr>
            <a:r>
              <a:t>能完成操作與驗證</a:t>
            </a:r>
          </a:p>
          <a:p>
            <a:pPr>
              <a:defRPr sz="2000">
                <a:solidFill>
                  <a:srgbClr val="1F2937"/>
                </a:solidFill>
                <a:latin typeface="Arial"/>
              </a:defRPr>
            </a:pPr>
            <a:r>
              <a:t>能回復到 baseline</a:t>
            </a:r>
          </a:p>
          <a:p>
            <a:pPr>
              <a:defRPr sz="2000">
                <a:solidFill>
                  <a:srgbClr val="1F2937"/>
                </a:solidFill>
                <a:latin typeface="Arial"/>
              </a:defRPr>
            </a:pPr>
            <a:r>
              <a:t>能留下報告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Automation/scheduling</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11/60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場景：Automation/scheduling</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Automation/scheduling
script timer lock log
# record evidence
echo result &gt;&gt; runtime/reports/...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Automation/scheduling：指令與驗證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12/60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script timer lock log
./verify.sh
./rollback.sh  # if needed
./reset.sh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Account governance</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13/60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場景：Account governance</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Account governance
request approve audit revoke
# record evidence
echo result &gt;&gt; runtime/reports/...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Account governance：指令與驗證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14/60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request approve audit revoke
./verify.sh
./rollback.sh  # if needed
./reset.sh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Data migration</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15/60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場景：Data migration</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Data migration
rsync checksum switch
# record evidence
echo result &gt;&gt; runtime/reports/...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Data migration：指令與驗證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16/60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rsync checksum switch
./verify.sh
./rollback.sh  # if needed
./reset.sh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Release/Rollout</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17/60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場景：Release/Rollout</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Release/Rollout
release current symlink
# record evidence
echo result &gt;&gt; runtime/reports/...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Release/Rollout：指令與驗證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18/60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release current symlink
./verify.sh
./rollback.sh  # if needed
./reset.sh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Boot/Shutdown</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19/60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場景：Boot/Shutdown</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Boot/Shutdown
systemd target dependency
# record evidence
echo result &gt;&gt; runtime/reports/...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Boot/Shutdown：指令與驗證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20/60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systemd target dependency
./verify.sh
./rollback.sh  # if needed
./reset.sh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Remote multi-host</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21/60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場景：Remote multi-host</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Remote multi-host
ssh scp rsync loop
# record evidence
echo result &gt;&gt; runtime/reports/...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Remote multi-host：指令與驗證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22/60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ssh scp rsync loop
./verify.sh
./rollback.sh  # if needed
./reset.sh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Container</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23/60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場景：Container</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Container
docker image run logs
# record evidence
echo result &gt;&gt; runtime/reports/...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Container：指令與驗證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24/60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docker image run logs
./verify.sh
./rollback.sh  # if needed
./reset.sh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Advanced storage/network</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25/60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場景：Advanced storage/network</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Advanced storage/network
LVM bridge VLAN NAT
# record evidence
echo result &gt;&gt; runtime/reports/...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Advanced storage/network：指令與驗證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26/60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LVM bridge VLAN NAT
./verify.sh
./rollback.sh  # if needed
./reset.sh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Kernel/Driver</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27/60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場景：Kernel/Driver</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Kernel/Driver
lspci modprobe sysctl
# record evidence
echo result &gt;&gt; runtime/reports/...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Kernel/Driver：指令與驗證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28/60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lspci modprobe sysctl
./verify.sh
./rollback.sh  # if needed
./reset.sh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Specialized services</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29/60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場景：Specialized services</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Specialized services
Nginx PostgreSQL Redis
# record evidence
echo result &gt;&gt; runtime/reports/...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Specialized services：指令與驗證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30/60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Nginx PostgreSQL Redis
./verify.sh
./rollback.sh  # if needed
./reset.sh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IaC multi-host</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31/60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場景：IaC multi-host</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IaC multi-host
Ansible inventory apply
# record evidence
echo result &gt;&gt; runtime/reports/...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IaC multi-host：指令與驗證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32/60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Ansible inventory apply
./verify.sh
./rollback.sh  # if needed
./reset.sh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Automation/scheduling</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33/60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場景：Automation/scheduling</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Automation/scheduling
script timer lock log
# record evidence
echo result &gt;&gt; runtime/reports/...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Automation/scheduling：指令與驗證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34/60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script timer lock log
./verify.sh
./rollback.sh  # if needed
./reset.sh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Account governance</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35/60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場景：Account governance</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Account governance
request approve audit revoke
# record evidence
echo result &gt;&gt; runtime/reports/...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Account governance：指令與驗證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36/60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request approve audit revoke
./verify.sh
./rollback.sh  # if needed
./reset.sh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Data migration</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37/60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場景：Data migration</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Data migration
rsync checksum switch
# record evidence
echo result &gt;&gt; runtime/reports/...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Data migration：指令與驗證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38/60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rsync checksum switch
./verify.sh
./rollback.sh  # if needed
./reset.sh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Release/Rollout</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39/60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場景：Release/Rollout</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Release/Rollout
release current symlink
# record evidence
echo result &gt;&gt; runtime/reports/...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Release/Rollout：指令與驗證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40/60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release current symlink
./verify.sh
./rollback.sh  # if needed
./reset.sh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Boot/Shutdown</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41/60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場景：Boot/Shutdown</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Boot/Shutdown
systemd target dependency
# record evidence
echo result &gt;&gt; runtime/reports/...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Boot/Shutdown：指令與驗證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42/60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systemd target dependency
./verify.sh
./rollback.sh  # if needed
./reset.sh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Remote multi-host</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43/60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場景：Remote multi-host</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Remote multi-host
ssh scp rsync loop
# record evidence
echo result &gt;&gt; runtime/reports/...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Remote multi-host：指令與驗證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44/60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ssh scp rsync loop
./verify.sh
./rollback.sh  # if needed
./reset.sh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Container</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45/60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場景：Container</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Container
docker image run logs
# record evidence
echo result &gt;&gt; runtime/reports/...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Container：指令與驗證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46/60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docker image run logs
./verify.sh
./rollback.sh  # if needed
./reset.sh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Advanced storage/network</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47/60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場景：Advanced storage/network</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Advanced storage/network
LVM bridge VLAN NAT
# record evidence
echo result &gt;&gt; runtime/reports/...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Advanced storage/network：指令與驗證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48/60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LVM bridge VLAN NAT
./verify.sh
./rollback.sh  # if needed
./reset.sh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Kernel/Driver</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Scenario / Lab</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49/60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場景：Kernel/Driver</a:t>
            </a:r>
          </a:p>
          <a:p>
            <a:pPr>
              <a:defRPr sz="1900">
                <a:solidFill>
                  <a:srgbClr val="1F2937"/>
                </a:solidFill>
                <a:latin typeface="Arial"/>
              </a:defRPr>
            </a:pPr>
            <a:r>
              <a:t>先觀察目前狀態，不急著修改。</a:t>
            </a:r>
          </a:p>
          <a:p>
            <a:pPr>
              <a:defRPr sz="1900">
                <a:solidFill>
                  <a:srgbClr val="1F2937"/>
                </a:solidFill>
                <a:latin typeface="Arial"/>
              </a:defRPr>
            </a:pPr>
            <a:r>
              <a:t>判斷正常 / 異常 / 風險。</a:t>
            </a:r>
          </a:p>
          <a:p>
            <a:pPr>
              <a:defRPr sz="1900">
                <a:solidFill>
                  <a:srgbClr val="1F2937"/>
                </a:solidFill>
                <a:latin typeface="Arial"/>
              </a:defRPr>
            </a:pPr>
            <a:r>
              <a:t>留下操作前證據，避免無法回復。</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 inspect Kernel/Driver
lspci modprobe sysctl
# record evidence
echo result &gt;&gt; runtime/reports/...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Kernel/Driver：指令與驗證</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Commands / Verify / Rollback</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50/60</a:t>
            </a:r>
          </a:p>
        </p:txBody>
      </p:sp>
      <p:sp>
        <p:nvSpPr>
          <p:cNvPr id="7" name="TextBox 6"/>
          <p:cNvSpPr txBox="1"/>
          <p:nvPr/>
        </p:nvSpPr>
        <p:spPr>
          <a:xfrm>
            <a:off x="731520" y="1325880"/>
            <a:ext cx="5120640" cy="4480560"/>
          </a:xfrm>
          <a:prstGeom prst="rect">
            <a:avLst/>
          </a:prstGeom>
          <a:noFill/>
        </p:spPr>
        <p:txBody>
          <a:bodyPr wrap="square">
            <a:spAutoFit/>
          </a:bodyPr>
          <a:lstStyle/>
          <a:p>
            <a:pPr>
              <a:defRPr sz="1900">
                <a:solidFill>
                  <a:srgbClr val="1F2937"/>
                </a:solidFill>
                <a:latin typeface="Arial"/>
              </a:defRPr>
            </a:pPr>
            <a:r>
              <a:t>指令不是背單字，而是串成決策流程。</a:t>
            </a:r>
          </a:p>
          <a:p>
            <a:pPr>
              <a:defRPr sz="1900">
                <a:solidFill>
                  <a:srgbClr val="1F2937"/>
                </a:solidFill>
                <a:latin typeface="Arial"/>
              </a:defRPr>
            </a:pPr>
            <a:r>
              <a:t>verify 必須能證明結果。</a:t>
            </a:r>
          </a:p>
          <a:p>
            <a:pPr>
              <a:defRPr sz="1900">
                <a:solidFill>
                  <a:srgbClr val="1F2937"/>
                </a:solidFill>
                <a:latin typeface="Arial"/>
              </a:defRPr>
            </a:pPr>
            <a:r>
              <a:t>rollback/reset 必須能回到可訓練狀態。</a:t>
            </a:r>
          </a:p>
        </p:txBody>
      </p:sp>
      <p:sp>
        <p:nvSpPr>
          <p:cNvPr id="8" name="Rounded Rectangle 7"/>
          <p:cNvSpPr/>
          <p:nvPr/>
        </p:nvSpPr>
        <p:spPr>
          <a:xfrm>
            <a:off x="6217920" y="1417320"/>
            <a:ext cx="5074920" cy="4114800"/>
          </a:xfrm>
          <a:prstGeom prst="round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164592" rIns="109728" tIns="109728"/>
          <a:lstStyle/>
          <a:p>
            <a:pPr algn="ctr"/>
            <a:r>
              <a:rPr sz="1400">
                <a:solidFill>
                  <a:srgbClr val="E5E7EB"/>
                </a:solidFill>
                <a:latin typeface="Consolas"/>
              </a:rPr>
              <a:t>lspci modprobe sysctl
./verify.sh
./rollback.sh  # if needed
./reset.sh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Lab 操作規則</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51/60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每次先跑 prepare / baseline</a:t>
            </a:r>
          </a:p>
          <a:p>
            <a:pPr>
              <a:defRPr sz="2000">
                <a:solidFill>
                  <a:srgbClr val="1F2937"/>
                </a:solidFill>
                <a:latin typeface="Arial"/>
              </a:defRPr>
            </a:pPr>
            <a:r>
              <a:t>學生自己下指令</a:t>
            </a:r>
          </a:p>
          <a:p>
            <a:pPr>
              <a:defRPr sz="2000">
                <a:solidFill>
                  <a:srgbClr val="1F2937"/>
                </a:solidFill>
                <a:latin typeface="Arial"/>
              </a:defRPr>
            </a:pPr>
            <a:r>
              <a:t>verify.sh 只驗結果，不替學生操作</a:t>
            </a:r>
          </a:p>
          <a:p>
            <a:pPr>
              <a:defRPr sz="2000">
                <a:solidFill>
                  <a:srgbClr val="1F2937"/>
                </a:solidFill>
                <a:latin typeface="Arial"/>
              </a:defRPr>
            </a:pPr>
            <a:r>
              <a:t>reset.sh 回到可重練狀態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常見錯誤</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52/60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只看一個指標就下結論</a:t>
            </a:r>
          </a:p>
          <a:p>
            <a:pPr>
              <a:defRPr sz="2000">
                <a:solidFill>
                  <a:srgbClr val="1F2937"/>
                </a:solidFill>
                <a:latin typeface="Arial"/>
              </a:defRPr>
            </a:pPr>
            <a:r>
              <a:t>沒有保存 before state</a:t>
            </a:r>
          </a:p>
          <a:p>
            <a:pPr>
              <a:defRPr sz="2000">
                <a:solidFill>
                  <a:srgbClr val="1F2937"/>
                </a:solidFill>
                <a:latin typeface="Arial"/>
              </a:defRPr>
            </a:pPr>
            <a:r>
              <a:t>修完沒有做功能驗證</a:t>
            </a:r>
          </a:p>
          <a:p>
            <a:pPr>
              <a:defRPr sz="2000">
                <a:solidFill>
                  <a:srgbClr val="1F2937"/>
                </a:solidFill>
                <a:latin typeface="Arial"/>
              </a:defRPr>
            </a:pPr>
            <a:r>
              <a:t>rollback 沒有實際測</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教師檢查點</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53/60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能解釋輸出</a:t>
            </a:r>
          </a:p>
          <a:p>
            <a:pPr>
              <a:defRPr sz="2000">
                <a:solidFill>
                  <a:srgbClr val="1F2937"/>
                </a:solidFill>
                <a:latin typeface="Arial"/>
              </a:defRPr>
            </a:pPr>
            <a:r>
              <a:t>能說明下一步判斷</a:t>
            </a:r>
          </a:p>
          <a:p>
            <a:pPr>
              <a:defRPr sz="2000">
                <a:solidFill>
                  <a:srgbClr val="1F2937"/>
                </a:solidFill>
                <a:latin typeface="Arial"/>
              </a:defRPr>
            </a:pPr>
            <a:r>
              <a:t>能區分症狀與原因</a:t>
            </a:r>
          </a:p>
          <a:p>
            <a:pPr>
              <a:defRPr sz="2000">
                <a:solidFill>
                  <a:srgbClr val="1F2937"/>
                </a:solidFill>
                <a:latin typeface="Arial"/>
              </a:defRPr>
            </a:pPr>
            <a:r>
              <a:t>能完成紀錄</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學生交付物</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54/60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指令紀錄</a:t>
            </a:r>
          </a:p>
          <a:p>
            <a:pPr>
              <a:defRPr sz="2000">
                <a:solidFill>
                  <a:srgbClr val="1F2937"/>
                </a:solidFill>
                <a:latin typeface="Arial"/>
              </a:defRPr>
            </a:pPr>
            <a:r>
              <a:t>狀態截圖/文字輸出</a:t>
            </a:r>
          </a:p>
          <a:p>
            <a:pPr>
              <a:defRPr sz="2000">
                <a:solidFill>
                  <a:srgbClr val="1F2937"/>
                </a:solidFill>
                <a:latin typeface="Arial"/>
              </a:defRPr>
            </a:pPr>
            <a:r>
              <a:t>verify 結果</a:t>
            </a:r>
          </a:p>
          <a:p>
            <a:pPr>
              <a:defRPr sz="2000">
                <a:solidFill>
                  <a:srgbClr val="1F2937"/>
                </a:solidFill>
                <a:latin typeface="Arial"/>
              </a:defRPr>
            </a:pPr>
            <a:r>
              <a:t>rollback/reset 結果</a:t>
            </a:r>
          </a:p>
          <a:p>
            <a:pPr>
              <a:defRPr sz="2000">
                <a:solidFill>
                  <a:srgbClr val="1F2937"/>
                </a:solidFill>
                <a:latin typeface="Arial"/>
              </a:defRPr>
            </a:pPr>
            <a:r>
              <a:t>最終報告</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與前後 Phase 的關係</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55/60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Phase 8 是整套主幹的一層</a:t>
            </a:r>
          </a:p>
          <a:p>
            <a:pPr>
              <a:defRPr sz="2000">
                <a:solidFill>
                  <a:srgbClr val="1F2937"/>
                </a:solidFill>
                <a:latin typeface="Arial"/>
              </a:defRPr>
            </a:pPr>
            <a:r>
              <a:t>前面能力會被重複使用</a:t>
            </a:r>
          </a:p>
          <a:p>
            <a:pPr>
              <a:defRPr sz="2000">
                <a:solidFill>
                  <a:srgbClr val="1F2937"/>
                </a:solidFill>
                <a:latin typeface="Arial"/>
              </a:defRPr>
            </a:pPr>
            <a:r>
              <a:t>後面 Phase 會增加範圍與複雜度</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Assessment 1</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56/60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給一個未知狀態</a:t>
            </a:r>
          </a:p>
          <a:p>
            <a:pPr>
              <a:defRPr sz="2000">
                <a:solidFill>
                  <a:srgbClr val="1F2937"/>
                </a:solidFill>
                <a:latin typeface="Arial"/>
              </a:defRPr>
            </a:pPr>
            <a:r>
              <a:t>要求學生列出觀察順序</a:t>
            </a:r>
          </a:p>
          <a:p>
            <a:pPr>
              <a:defRPr sz="2000">
                <a:solidFill>
                  <a:srgbClr val="1F2937"/>
                </a:solidFill>
                <a:latin typeface="Arial"/>
              </a:defRPr>
            </a:pPr>
            <a:r>
              <a:t>要求說明每一步為何需要</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Assessment 2</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57/60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給一個變更需求</a:t>
            </a:r>
          </a:p>
          <a:p>
            <a:pPr>
              <a:defRPr sz="2000">
                <a:solidFill>
                  <a:srgbClr val="1F2937"/>
                </a:solidFill>
                <a:latin typeface="Arial"/>
              </a:defRPr>
            </a:pPr>
            <a:r>
              <a:t>要求學生寫 plan</a:t>
            </a:r>
          </a:p>
          <a:p>
            <a:pPr>
              <a:defRPr sz="2000">
                <a:solidFill>
                  <a:srgbClr val="1F2937"/>
                </a:solidFill>
                <a:latin typeface="Arial"/>
              </a:defRPr>
            </a:pPr>
            <a:r>
              <a:t>要求列出 verify/rollback 條件</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Assessment 3</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58/60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給一個錯誤結果</a:t>
            </a:r>
          </a:p>
          <a:p>
            <a:pPr>
              <a:defRPr sz="2000">
                <a:solidFill>
                  <a:srgbClr val="1F2937"/>
                </a:solidFill>
                <a:latin typeface="Arial"/>
              </a:defRPr>
            </a:pPr>
            <a:r>
              <a:t>要求學生判斷要診斷、回復或重做</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本 Phase 總結</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59/60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從單機 Linux 管理擴展到自動化、多機、容器、Infra 與 IaC。</a:t>
            </a:r>
          </a:p>
          <a:p>
            <a:pPr>
              <a:defRPr sz="2000">
                <a:solidFill>
                  <a:srgbClr val="1F2937"/>
                </a:solidFill>
                <a:latin typeface="Arial"/>
              </a:defRPr>
            </a:pPr>
            <a:r>
              <a:t>核心不是背指令，而是形成可驗證流程。</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9875520" cy="502920"/>
          </a:xfrm>
          <a:prstGeom prst="rect">
            <a:avLst/>
          </a:prstGeom>
          <a:noFill/>
        </p:spPr>
        <p:txBody>
          <a:bodyPr wrap="square">
            <a:spAutoFit/>
          </a:bodyPr>
          <a:lstStyle/>
          <a:p>
            <a:r>
              <a:rPr sz="3000" b="1">
                <a:solidFill>
                  <a:srgbClr val="1F2937"/>
                </a:solidFill>
                <a:latin typeface="Arial"/>
              </a:rPr>
              <a:t>下一步</a:t>
            </a:r>
          </a:p>
        </p:txBody>
      </p:sp>
      <p:sp>
        <p:nvSpPr>
          <p:cNvPr id="5" name="TextBox 4"/>
          <p:cNvSpPr txBox="1"/>
          <p:nvPr/>
        </p:nvSpPr>
        <p:spPr>
          <a:xfrm>
            <a:off x="530352" y="841248"/>
            <a:ext cx="8961120" cy="320040"/>
          </a:xfrm>
          <a:prstGeom prst="rect">
            <a:avLst/>
          </a:prstGeom>
          <a:noFill/>
        </p:spPr>
        <p:txBody>
          <a:bodyPr wrap="square">
            <a:spAutoFit/>
          </a:bodyPr>
          <a:lstStyle/>
          <a:p>
            <a:r>
              <a:rPr sz="1400" b="0">
                <a:solidFill>
                  <a:srgbClr val="5B6B7E"/>
                </a:solidFill>
                <a:latin typeface="Arial"/>
              </a:rPr>
              <a:t>進階系統管理與基礎設施維運</a:t>
            </a:r>
          </a:p>
        </p:txBody>
      </p:sp>
      <p:sp>
        <p:nvSpPr>
          <p:cNvPr id="6" name="TextBox 5"/>
          <p:cNvSpPr txBox="1"/>
          <p:nvPr/>
        </p:nvSpPr>
        <p:spPr>
          <a:xfrm>
            <a:off x="9875520" y="6446520"/>
            <a:ext cx="1828800" cy="274320"/>
          </a:xfrm>
          <a:prstGeom prst="rect">
            <a:avLst/>
          </a:prstGeom>
          <a:noFill/>
        </p:spPr>
        <p:txBody>
          <a:bodyPr wrap="square">
            <a:spAutoFit/>
          </a:bodyPr>
          <a:lstStyle/>
          <a:p>
            <a:pPr algn="r"/>
            <a:r>
              <a:rPr sz="900" b="0">
                <a:solidFill>
                  <a:srgbClr val="5B6B7E"/>
                </a:solidFill>
                <a:latin typeface="Arial"/>
              </a:rPr>
              <a:t>Phase 8 · 60/60</a:t>
            </a:r>
          </a:p>
        </p:txBody>
      </p:sp>
      <p:sp>
        <p:nvSpPr>
          <p:cNvPr id="7" name="TextBox 6"/>
          <p:cNvSpPr txBox="1"/>
          <p:nvPr/>
        </p:nvSpPr>
        <p:spPr>
          <a:xfrm>
            <a:off x="731520" y="1463040"/>
            <a:ext cx="10789920" cy="4389120"/>
          </a:xfrm>
          <a:prstGeom prst="rect">
            <a:avLst/>
          </a:prstGeom>
          <a:noFill/>
        </p:spPr>
        <p:txBody>
          <a:bodyPr wrap="square">
            <a:spAutoFit/>
          </a:bodyPr>
          <a:lstStyle/>
          <a:p>
            <a:pPr>
              <a:defRPr sz="2000">
                <a:solidFill>
                  <a:srgbClr val="1F2937"/>
                </a:solidFill>
                <a:latin typeface="Arial"/>
              </a:defRPr>
            </a:pPr>
            <a:r>
              <a:t>進入下一個 Phase 前，先確認本 Phase 能獨立完成。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