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notesMasterIdLst>
    <p:notesMasterId r:id="rId6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8｜進階系統管理與基礎設施維運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Automation / Multi-host / IaC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</a:rPr>
              <a:t>從單機操作擴展為自動化、多機、容器、進階 storage/network、專門服務與 IaC desired state。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755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環境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48712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1864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21864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紀錄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3024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6176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56176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實驗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17336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0488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驗證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851648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24800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24800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回復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5960" y="3931920"/>
            <a:ext cx="1661160" cy="914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59112" y="40050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59112" y="4261104"/>
            <a:ext cx="1514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交付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本階段故事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沿用同一台 Report Platform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從單機操作擴展為自動化、多機、容器、進階 storage/network、專門服務與 IaC desired state。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每個 Lab 都必須先看機器狀態，再進入操作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學習目標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能說明本次操作要改什麼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能建立 before/after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能用原生命令與 verify.sh 雙重驗證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能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標準實驗節奏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1. 環境設定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2. Machine Record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3. Baseline / Inventory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4. Prepare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5. Operation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6. Verify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7. Record 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8. Rollback / Reset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安全邊界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預設使用 runtime/ sandbox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高風險指令需先 dry-run 或 teacher mode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不直接破壞真實 user/firewall/systemd/mount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所有變更前先記錄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目錄與工作位置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linux-training/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phase8/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runtime/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records/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tests/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docs/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Machine Record：為什麼要做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7/60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避免不知道改了什麼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讓 before/after 可比較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失敗時能回推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形成真實維運習慣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Baseline Command 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8/60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hostnamectl / uname / os-release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whoami / id / groups / sudo -l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ip addr / ip route / 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lsblk / df / findmnt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systemctl / journalctl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Lab Script 角色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9/60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prepare.sh：建立實驗素材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verify.sh：自動驗收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rollback.sh：回到變更前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reset.sh：回到 Lab 初始狀態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本階段交付物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Phase 8 基礎說明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10/60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10332720" cy="4480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machine-record before/after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command output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verify result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rollback/reset evidence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• final report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共同開場：建立 Machine Record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每個 Lab 都先做，不要直接下修改指令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22960" y="1234440"/>
            <a:ext cx="10607040" cy="5074920"/>
          </a:xfrm>
          <a:prstGeom prst="roundRect">
            <a:avLst>
              <a:gd name="adj" fmla="val 1081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325880"/>
            <a:ext cx="10387584" cy="4910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~/linux-training-records/phase8/labXX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hostnamectl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uname -a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cat /etc/os-release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whoami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groups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addr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ip route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lsblk -f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df -h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~/linux-training-records/phase8/labXX/before.txt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把重複工作變成可靠自動流程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把重複工作變成可靠自動流程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~/linux-training/phase8/scenarios/01-*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~/linux-training-records/phase8/01/pwd.txt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~/linux-training-records/phase8/01/host.txt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~/linux-training-records/phase8/01/user.txt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~/linux-training-records/phase8/01/user.txt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crontab -l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systemctl list-timers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bash -n script.sh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flock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logger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journalctl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identify manual task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script + log + lock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timer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verify exit code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~/linux-training-records/phase8/01/after.txt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~/linux-training-records/phase8/01/before.txt   ~/linux-training-records/phase8/01/after.txt   &gt; ~/linux-training-records/phase8/01/diff.txt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01. Automation / Scheduling｜Verify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多機帳號與 SSH 管理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多機帳號與 SSH 管理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19/60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~/linux-training/phase8/scenarios/02-*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~/linux-training-records/phase8/02/pwd.txt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~/linux-training-records/phase8/02/host.txt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~/linux-training-records/phase8/02/user.txt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~/linux-training-records/phase8/02/user.txt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rsync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~/.ssh/config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for host in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sudo -l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host inventory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key/config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remote execute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collect result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revoke user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~/linux-training-records/phase8/02/after.txt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~/linux-training-records/phase8/02/before.txt   ~/linux-training-records/phase8/02/after.txt   &gt; ~/linux-training-records/phase8/02/diff.txt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02. Account Governance / Remote Multi-host｜Verify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搬移資料並安全切換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搬移資料並安全切換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~/linux-training/phase8/scenarios/03-*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~/linux-training-records/phase8/03/pwd.txt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~/linux-training-records/phase8/03/host.txt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~/linux-training-records/phase8/03/user.txt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~/linux-training-records/phase8/03/user.txt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du -sh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rsync -aHAX --dry-run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tar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sha256sum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diff -r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findmnt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source check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initial 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delta sync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stop writer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final sync + switch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~/linux-training-records/phase8/03/after.txt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~/linux-training-records/phase8/03/before.txt   ~/linux-training-records/phase8/03/after.txt   &gt; ~/linux-training-records/phase8/03/diff.txt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03. Data Migration｜Verify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29/60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工程化版本發布與 rollback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工程化版本發布與 rollback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~/linux-training/phase8/scenarios/04-*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~/linux-training-records/phase8/04/pwd.txt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~/linux-training-records/phase8/04/host.txt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~/linux-training-records/phase8/04/user.txt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~/linux-training-records/phase8/04/user.txt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tar -tf artifact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sha256sum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ln -sfn current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systemctl restart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curl 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journalctl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準備 release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切 current symlink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health check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monitor + rollback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~/linux-training-records/phase8/04/after.txt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~/linux-training-records/phase8/04/before.txt   ~/linux-training-records/phase8/04/after.txt   &gt; ~/linux-training-records/phase8/04/diff.txt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04. Release / Rollout｜Verify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確保 reboot 後正確自動恢復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確保 reboot 後正確自動恢復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~/linux-training/phase8/scenarios/05-*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~/linux-training-records/phase8/05/pwd.txt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~/linux-training-records/phase8/05/host.txt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~/linux-training-records/phase8/05/user.txt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~/linux-training-records/phase8/05/user.txt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systemctl list-dependencies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systemctl cat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systemctl enable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reboot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journalctl -b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39/60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定義 After/Requires/Wants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測 mount before 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reboot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rescue restore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~/linux-training-records/phase8/05/after.txt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~/linux-training-records/phase8/05/before.txt   ~/linux-training-records/phase8/05/after.txt   &gt; ~/linux-training-records/phase8/05/diff.txt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05. Boot / Shutdown Dependency｜Verify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把 Worker 換成 container deployment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把 Worker 換成 container deployment model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~/linux-training/phase8/scenarios/06-*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~/linux-training-records/phase8/06/pwd.txt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~/linux-training-records/phase8/06/host.txt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~/linux-training-records/phase8/06/user.txt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~/linux-training-records/phase8/06/user.txt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docker images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docker ps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docker build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docker run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docker inspect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docker logs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docker stats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image/container/volume/network/env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run health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update image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rollback old container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~/linux-training-records/phase8/06/after.txt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~/linux-training-records/phase8/06/before.txt   ~/linux-training-records/phase8/06/after.txt   &gt; ~/linux-training-records/phase8/06/diff.txt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06. Container｜Verify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管理 LVM、bridge/VLAN、module/driver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管理 LVM、bridge/VLAN、module/driver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49/60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~/linux-training/phase8/scenarios/07-*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~/linux-training-records/phase8/07/pwd.txt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~/linux-training-records/phase8/07/host.txt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~/linux-training-records/phase8/07/user.txt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~/linux-training-records/phase8/07/user.txt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pvcreate vgcreate lvcreate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lvextend resize2fs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ip link add bridge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modprobe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lsmod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lspci -k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7. dmesg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51/60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allocate volume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resize filesystem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bridge/VLAN/NAT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bind/unbind driver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52/60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~/linux-training-records/phase8/07/after.txt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~/linux-training-records/phase8/07/before.txt   ~/linux-training-records/phase8/07/after.txt   &gt; ~/linux-training-records/phase8/07/diff.txt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07. Advanced Storage / Network / Kernel｜Verify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53/60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IaC｜場景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管理 Nginx/DB/Redis 並導入 desired state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54/60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9436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1732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今天要解決什麼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管理 Nginx/DB/Redis 並導入 desired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先 inventory / baseline，再進入實驗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所有輸出要保存到 records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最後必須 verify + rollback/reset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16642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不要做什麼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28232" y="2057400"/>
            <a:ext cx="4846320" cy="3429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不要一開始就執行修改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不要只貼 ./verify.sh 不說明目的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不要沒有 before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• 不要把 rollback 與 reset 混用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IaC｜環境與初始紀錄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先知道你站在哪台機器、哪個目錄、哪個 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55/60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1828800"/>
          </a:xfrm>
          <a:prstGeom prst="roundRect">
            <a:avLst>
              <a:gd name="adj" fmla="val 3000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cd ~/linux-training/phase8/scenarios/08-*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mkdir -p ~/linux-training-records/phase8/08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pwd &gt; ~/linux-training-records/phase8/08/pwd.txt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hostnamectl &gt; ~/linux-training-records/phase8/08/host.txt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whoami &gt; ~/linux-training-records/phase8/08/user.txt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 &gt;&gt; ~/linux-training-records/phase8/08/user.txt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1005840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這一頁不是教指令而已，是建立操作上下文。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</a:rPr>
              <a:t>• 學生必須能回答：我在哪台機器？用什麼身份？接下來會改哪裡？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IaC｜指令說明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先拆開每個 command 的用途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56/60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5212080" cy="4480560"/>
          </a:xfrm>
          <a:prstGeom prst="roundRect">
            <a:avLst>
              <a:gd name="adj" fmla="val 122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49926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1. nginx -t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2. psql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3. redis-cli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4. ansible-inventory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5. ansible-playbook --check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6. diff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417320"/>
            <a:ext cx="5029200" cy="4114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read 類指令：用來建立現況，不修改機器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類指令：用來證明結果符合預期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change 類指令：要先有 backup / rollback path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同一組指令要能串成決策流程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IaC｜操作流程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從 prepare 到操作，不要跳步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57/60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進入資料夾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1552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4704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4704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記 before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37304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0456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10456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prepare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63056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36208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手動操作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88808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1960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1960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原生命令驗證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814560" y="1325880"/>
            <a:ext cx="1752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87712" y="139903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87712" y="1655064"/>
            <a:ext cx="1606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AFC"/>
                </a:solidFill>
              </a:rPr>
              <a:t>verify.sh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788920"/>
            <a:ext cx="5394960" cy="2103120"/>
          </a:xfrm>
          <a:prstGeom prst="roundRect">
            <a:avLst>
              <a:gd name="adj" fmla="val 2609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880360"/>
            <a:ext cx="51755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./prepare.sh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根據本頁目標做手動操作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例：修改 config / 建立 service / 注入 fault / restore / tune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2743200"/>
            <a:ext cx="4846320" cy="2194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inspect/configure/start/verify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定義 inventory/roles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plan/apply/verify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drift detect + rollback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IaC｜After Record / Before-After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做完操作後再次記錄，才能知道差異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58/60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0698480" cy="3794760"/>
          </a:xfrm>
          <a:prstGeom prst="roundRect">
            <a:avLst>
              <a:gd name="adj" fmla="val 1446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1325880"/>
            <a:ext cx="10479024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systemctl --failed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ss -tulpn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journalctl -p err -n 30 --no-pager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 &gt; ~/linux-training-records/phase8/08/after.txt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diff -u   ~/linux-training-records/phase8/08/before.txt   ~/linux-training-records/phase8/08/after.txt   &gt; ~/linux-training-records/phase8/08/diff.txt || true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Before / After / Diff 是每個實驗的核心證據。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• 沒有 diff，就只是在憑印象說「好像改好了」。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08. Specialized Services / IaC｜Verify / Rollback / Reset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三個腳本的目的必須分清楚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59/60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5486400" cy="3200400"/>
          </a:xfrm>
          <a:prstGeom prst="roundRect">
            <a:avLst>
              <a:gd name="adj" fmla="val 1714"/>
            </a:avLst>
          </a:prstGeom>
          <a:solidFill>
            <a:srgbClr val="020617"/>
          </a:solidFill>
          <a:ln w="12700">
            <a:solidFill>
              <a:srgbClr val="475569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325880"/>
            <a:ext cx="5266944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./verify.sh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驗證目前狀態是否達成本 Lab 目標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./rollback.sh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如果本次 change 失敗，回到 change 前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./reset.sh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# Lab 結束或要重練，回到 Lab 初始狀態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508760"/>
            <a:ext cx="4663440" cy="2834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verify 不是魔法：要先知道它在驗什麼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rollback 不是 reset：rollback 回變更前，reset 回 Lab 初始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</a:rPr>
              <a:t>• 跑完 rollback/reset 後仍要再 verify 或重新 read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</a:rPr>
              <a:t>Phase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6459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進階系統管理與基礎設施維運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11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Phase 8 完成標準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30352" y="94183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最後不是看完 PPT，而是能完整跑一次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01400" y="65105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60/60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18872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615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項目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4846320" cy="472440"/>
          </a:xfrm>
          <a:prstGeom prst="rect">
            <a:avLst/>
          </a:prstGeom>
          <a:solidFill>
            <a:srgbClr val="1E40A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2472" y="1463040"/>
            <a:ext cx="479145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完成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18872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能說明環境與主機狀態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88976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19263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before machine record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236220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1616" y="23987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能拆解指令用途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83464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8712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能完成實驗操作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0" y="330708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334365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18872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有 after + diff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35040" y="377952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1616" y="381609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2529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verify.sh 通過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035040" y="425196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71616" y="428853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2529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rollback/reset 可說明差異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35040" y="4724400"/>
            <a:ext cx="4846320" cy="472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71616" y="476097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529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完成本階段 report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035040" y="5196840"/>
            <a:ext cx="4846320" cy="472440"/>
          </a:xfrm>
          <a:prstGeom prst="rect">
            <a:avLst/>
          </a:prstGeom>
          <a:solidFill>
            <a:srgbClr val="0B122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71616" y="5233416"/>
            <a:ext cx="477316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8FAFC"/>
                </a:solidFill>
              </a:rPr>
              <a:t>✅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新增章節：常用指令族與情境搭配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這些頁面專門補「同一個指令的常用參數族」與實際場景搭配，不再只列主流程。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先看問題，再選指令變形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每個指令族要知道輸出代表什麼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grep/sed/awk/diff 形成操作證據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最後才進入 verify / rollback / reset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ACC15"/>
                </a:solidFill>
                <a:latin typeface="Microsoft JhengHei"/>
              </a:rPr>
              <a:t>操作邏輯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1. 先問要確認什麼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2. 下最小必要指令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3. 看輸出再決定下一步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4. 記錄 before/after</a:t>
            </a:r>
          </a:p>
          <a:p>
            <a:pPr/>
            <a:r>
              <a:rPr sz="1800">
                <a:solidFill>
                  <a:srgbClr val="CBD5E1"/>
                </a:solidFill>
                <a:latin typeface="Microsoft JhengHei"/>
              </a:rPr>
              <a:t>5. verify，不對就 rollback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4A3B8"/>
                </a:solidFill>
                <a:latin typeface="Microsoft JhengHei"/>
              </a:rPr>
              <a:t>新增內容：command family / option variants / scenario usage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指令族：id / groups / getent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身份不是只看 whoami，而是拆 UID / GID / supplementary groups。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whoami：目前有效使用者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id：完整身份資訊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-u：只看 UID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-g：primary GID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-G：所有群組 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id -nG：所有群組名稱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getent passwd/group：從系統資料庫查帳號與群組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whoami
id
id -u
id -g
id -G
id -nG
getent passwd reportapp
getent group report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指令族：ls / stat / find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檔案狀態要分清楚存在、類型、owner、mode、時間與搜尋條件。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-l：看檔案類型、owner、group、mode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 -la：包含 hidden files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stat：精準看 inode / mode / time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-type f/d/l：依類型找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-name：依名稱找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-perm：找權限異常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-mtime/-size：找時間與大小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 -la /data/report-app
stat /etc/report-app/report-app.env
find /data/report-app -type f -name '*.json'
find /data/report-app -perm -002
find /var/log -type f -size +100M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指令族：grep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grep 不是只搜尋文字，而是從大量輸出中縮小範圍。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PATTERN file：基本搜尋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-i：忽略大小寫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-n：顯示行號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-v：排除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-E：OR / extended regex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grep -A/-B/-C：帶前後文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pipe：從 command output 篩選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| grep -i error
systemctl list-units | grep report
ss -tulpn | grep ':8080'
grep -nE 'error|fail|denied' app.log
grep -C 3 'Permission denied' app.log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指令族：sed / awk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sed 處理行內替換，awk 處理欄位與報表。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-n：只印指定行/符合行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s/old/new/：替換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sed -i.bak：原地改並留備份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{print $1}：取欄位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awk 條件：依欄位過濾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搭配 sort/uniq：產生統計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sed -n '1,80p' /etc/report-app/report-app.env
sed -i.bak 's/PORT=8080/PORT=8081/' app.env
awk '{print $1,$2,$3}' access.log
awk '$9 &gt;= 500 {print}' access.log
awk '{count[$1]++} END {for (k in count) print k,count[k]}' access.log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指令族：systemctl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systemd 要看 unit 狀態、設定來源、是否開機啟動與相依關係。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status：目前狀態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is-active：給腳本判斷 active/inactive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is-enabled：是否開機啟動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cat：看 unit 原始內容與 drop-in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show：看展開後屬性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list-dependencies：看相依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daemon-reload：unit 改完重讀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systemctl status report-app
systemctl is-active report-app
systemctl is-enabled report-app
systemctl cat report-app
systemctl show report-app -p User -p Group -p ExecStart
systemctl list-dependencies report-app
sudo systemctl daemon-reload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指令族：journalctl / dmesg /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Log 要用時間、unit、priority、PID、keyword 縮小。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-u：指定 service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-p err：只看錯誤等級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--since：用時間範圍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journalctl -f：即時追蹤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dmesg：kernel/device log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tail -f：檔案 log 即時追蹤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journalctl -u report-app --since '10 min ago'
journalctl -u report-app -p warning..alert
journalctl -xe
journalctl -f -u report-worker
dmesg | tail -n 50
tail -f /var/log/report-app/report-app.log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指令族：ip / ss / curl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Network 要從 interface、route、socket、HTTP 分層看。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addr：IP 與 interface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link：link up/down 與統計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route：路由表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route get：查單一目的地怎麼走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-tulpn：誰在 listen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 -s：socket 摘要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curl -v/-w：拆 HTTP 連線時間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ip addr
ip link show
ip route
ip route get 8.8.8.8
ss -tulpn
ss -s
curl -v http://127.0.0.1:8080/health
curl -w 'total=%{time_total}
' -o /dev/null -s http://127.0.0.1:8080/health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指令族：df / du / lsblk / findmnt / blkid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Storage 要分 device、filesystem、mount point、容量與 inode。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 -f：device + FS + mount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blkid：UUID/LABEL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findmnt：實際掛載關係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-h：容量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df -i：inode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du -xhd1：找大目錄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mount/umount：掛載與卸載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lsblk -f
blkid
findmnt /data/report-app
df -h
df -i
du -xhd1 /data/report-app
mount | grep /data
sudo umount /mnt/lab-disk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指令族：ps / pgrep / top / lsof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Process 要找 PID、command、資源、open files、socket。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 aux：全 process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pgrep -a：依名稱找 PID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pstree：看父子關係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top：即時資源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-p：某 PID 開了什麼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lsof -i :PORT：誰占 port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/proc/PID：底層狀態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ps aux | grep report
pgrep -a report-worker
pstree -ap | grep report
top
lsof -p 1234
lsof -i :8080
ls /proc/1234/fd | wc -l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指令族：tar / rsync / diff / checksum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Backup/restore/migration 一定要驗證內容一致性。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-tf：先看壓縮檔內容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tar -xf：解出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-a：保留屬性同步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rsync --dry-run：先預演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diff -r：比較目錄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sha256sum：檢查檔案一致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find + sort + checksum：做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tar -tf backup.tar.gz | head
tar -xf backup.tar.gz -C restore/
rsync -a --dry-run src/ dst/
rsync -a src/ dst/
diff -r src/ dst/
sha256sum report-001.json
find data -type f -print0 | sort -z | xargs -0 sha256sum &gt; manifest.txt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Phase 8 指令族重點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進階維運會把單機指令變成 script、remote、container、IaC。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ssh/scp/rsync：多機操作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for host in ...：批次查詢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docker/podman：container 管理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lsblk/lvs/vgs：storage infra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ip link/bridge：network infra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ansible：desired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for h in app-01 app-02 worker-01; do
  ssh "$h" 'hostname; df -h /; systemctl is-active report-app'
done
rsync -a config/ app-01:/etc/report-app/
docker ps
docker logs report-worker
ip link show
ansible all -m ping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Microsoft JhengHei"/>
              </a:rPr>
              <a:t>PHASE8｜常用指令族與參數變形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1F5F9"/>
                </a:solidFill>
                <a:latin typeface="Microsoft JhengHei"/>
              </a:rPr>
              <a:t>練習方式：一頁一個指令族，一次只解一個問題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BD5E1"/>
                </a:solidFill>
                <a:latin typeface="Microsoft JhengHei"/>
              </a:rPr>
              <a:t>學生要能回答：我為什麼下這個指令？這個參數讓我多知道什麼？下一步依據什麼決定？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不要把一串指令當咒語貼上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每次只新增一個觀察角度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輸出要保存成紀錄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能用 diff / grep 比較差異</a:t>
            </a:r>
          </a:p>
          <a:p>
            <a:pPr/>
            <a:r>
              <a:rPr sz="1700">
                <a:solidFill>
                  <a:srgbClr val="F1F5F9"/>
                </a:solidFill>
                <a:latin typeface="Microsoft JhengHei"/>
              </a:rPr>
              <a:t>• verify.sh 是最後驗收，不是第一步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828800"/>
            <a:ext cx="5486400" cy="4297680"/>
          </a:xfrm>
          <a:prstGeom prst="rect">
            <a:avLst/>
          </a:prstGeom>
          <a:solidFill>
            <a:srgbClr val="02061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tIns="109728"/>
          <a:lstStyle/>
          <a:p>
            <a:pPr algn="ctr"/>
            <a:r>
              <a:rPr sz="1400">
                <a:solidFill>
                  <a:srgbClr val="E2E8F0"/>
                </a:solidFill>
                <a:latin typeface="Consolas"/>
              </a:rPr>
              <a:t># Example training rhythm
question='誰在執行服務？'
systemctl show report-app -p User -p Group
question='服務有沒有錯誤？'
journalctl -u report-app --since '10 min ago' | grep -iE 'error|fail|denied'
question='修改前後差異？'
diff -u before.txt after.txt ||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Training Phase Deck</dc:title>
  <dc:subject>Linux Training</dc:subject>
  <dc:creator>OpenAI</dc:creator>
  <cp:lastModifiedBy>OpenAI</cp:lastModifiedBy>
  <cp:revision>1</cp:revision>
  <dcterms:created xsi:type="dcterms:W3CDTF">2026-09-12T18:16:33Z</dcterms:created>
  <dcterms:modified xsi:type="dcterms:W3CDTF">2026-09-12T18:16:33Z</dcterms:modified>
</cp:coreProperties>
</file>