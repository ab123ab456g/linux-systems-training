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2588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2937"/>
                </a:solidFill>
                <a:latin typeface="Arial"/>
              </a:rPr>
              <a:t>Linux Training Phase 1～8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5B6B7E"/>
                </a:solidFill>
                <a:latin typeface="Arial"/>
              </a:rPr>
              <a:t>從單機巡檢到基礎設施維運的完整主幹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10241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F2937"/>
                </a:solidFill>
                <a:latin typeface="Arial"/>
              </a:defRPr>
            </a:pPr>
            <a:r>
              <a:t>Report App 作為同一條故事主線</a:t>
            </a:r>
          </a:p>
          <a:p>
            <a:pPr>
              <a:defRPr sz="2200">
                <a:solidFill>
                  <a:srgbClr val="1F2937"/>
                </a:solidFill>
                <a:latin typeface="Arial"/>
              </a:defRPr>
            </a:pPr>
            <a:r>
              <a:t>每個 Phase 都有 workflow、scenario、script、verify、rollback</a:t>
            </a:r>
          </a:p>
          <a:p>
            <a:pPr>
              <a:defRPr sz="2200">
                <a:solidFill>
                  <a:srgbClr val="1F2937"/>
                </a:solidFill>
                <a:latin typeface="Arial"/>
              </a:defRPr>
            </a:pPr>
            <a:r>
              <a:t>最後形成 Linux / Ops / SRE / Infrastructure 基礎能力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1/60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整體故事線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Course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2/60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Phase 1 接手正常系統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Phase 2 故障診斷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Phase 3 建置擴充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Phase 4 日常維運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Phase 5 災難恢復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Phase 6 效能容量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Phase 7 安全收斂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Phase 8 基礎設施維運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共用系統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Course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3/60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Report App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Report Worker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Data / Logs / Config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systemd / timer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runtime sandbox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tests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課程設計原則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Course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4/60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不是指令表，而是場景流程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每個操作都要有 evidence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每個變更都要 verify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每個風險都要 rollback/reset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Phase 1｜接手正常系統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Observe / Operate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5/60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接手一台已正常運作的 Report App Server，建立 baseline，完成巡檢報告。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Workflow：Login → Read System → Operate Safely → Verify → Rollback → Submit Report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Phase 1 核心指令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常用指令搭配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6/60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10698480" cy="438912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600">
                <a:solidFill>
                  <a:srgbClr val="E5E7EB"/>
                </a:solidFill>
                <a:latin typeface="Consolas"/>
              </a:rPr>
              <a:t>whoami id groups sudo -l
who w users last
uname hostnamectl /etc/os-release
lscpu lsmem lspci lsusb
lsblk blkid findmnt
df -h df -i du stat
ip addr ip link ip route
resolvectl dig nslookup ping curl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  <a:latin typeface="Arial"/>
              </a:defRPr>
            </a:pPr>
            <a:r>
              <a:t>教學要求：說明每個指令的目的、輸出怎麼判斷、下一步如何決策。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Phase 2｜故障診斷與修復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Detect / Inspect / Isolate /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7/60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Report App 被注入故障，學生從症狀追到 root cause，修復並驗證。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Workflow：Symptom → Detect → Inspect → Isolate → Fix → Verify → Rollback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Phase 2 核心指令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常用指令搭配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8/60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10698480" cy="438912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600">
                <a:solidFill>
                  <a:srgbClr val="E5E7EB"/>
                </a:solidFill>
                <a:latin typeface="Consolas"/>
              </a:rPr>
              <a:t>id ls -l stat getfacl journalctl
lspci -k lsusb dmesg lsmod
lsblk blkid findmnt mount fstab
df -h df -i fsck -n dmesg
ip addr link route neigh ping
resolvectl dig nslookup curl -v
ps pgrep pstree top lsof strace
systemctl status cat journalctl -u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  <a:latin typeface="Arial"/>
              </a:defRPr>
            </a:pPr>
            <a:r>
              <a:t>教學要求：說明每個指令的目的、輸出怎麼判斷、下一步如何決策。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Phase 3｜建置與擴充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Plan / Prepare / Create / Configure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9/60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Report App 正常運作，在不中斷原服務前提下新增 Report Worker。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Workflow：Read Existing → Plan → Prepare → Create → Configure → Verify → Recovery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Phase 3 核心指令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常用指令搭配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10/60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10698480" cy="438912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600">
                <a:solidFill>
                  <a:srgbClr val="E5E7EB"/>
                </a:solidFill>
                <a:latin typeface="Consolas"/>
              </a:rPr>
              <a:t>useradd groupadd usermod id
apt update install policy
mkdir touch cp chmod chown
lsblk mkfs mount fstab
ip route ping curl
resolvectl dig hosts
git clone cp artifact
systemctl daemon-reload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  <a:latin typeface="Arial"/>
              </a:defRPr>
            </a:pPr>
            <a:r>
              <a:t>教學要求：說明每個指令的目的、輸出怎麼判斷、下一步如何決策。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Phase 4｜日常維運與變更管理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Observe / Plan / Backup /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11/60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Report 系統已上線，開始處理 production-like 變更。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Workflow：Observe → Plan Change → Backup → Change → Verify → Monitor → Rollback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Phase 4 核心指令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常用指令搭配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12/60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10698480" cy="438912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600">
                <a:solidFill>
                  <a:srgbClr val="E5E7EB"/>
                </a:solidFill>
                <a:latin typeface="Consolas"/>
              </a:rPr>
              <a:t>apt policy upgrade downgrade
release switch healthcheck
diff cp vim syntax check
chmod chown usermod getfacl
systemctl edit daemon-reload
ss curl config port
ufw nft allow deny
dig ip route resolver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  <a:latin typeface="Arial"/>
              </a:defRPr>
            </a:pPr>
            <a:r>
              <a:t>教學要求：說明每個指令的目的、輸出怎麼判斷、下一步如何決策。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Phase 5｜備份還原與災難恢復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Assess / Select / Protect / Restore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13/60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重大事故後，選擇恢復點，保護現況，恢復資料與服務。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Workflow：Assess Loss → Select Backup → Protect Current → Restore → Verify Consistency → Failback → Close Incident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Phase 5 核心指令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常用指令搭配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14/60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10698480" cy="438912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600">
                <a:solidFill>
                  <a:srgbClr val="E5E7EB"/>
                </a:solidFill>
                <a:latin typeface="Consolas"/>
              </a:rPr>
              <a:t>ls stat df journalctl
find ls rsync --list-only
sha256sum tar -tf dry-run
cp -a tar rsync snapshot
cp rsync diff checksum
rsync tar file count
diff restore config syntax
dump import schema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  <a:latin typeface="Arial"/>
              </a:defRPr>
            </a:pPr>
            <a:r>
              <a:t>教學要求：說明每個指令的目的、輸出怎麼判斷、下一步如何決策。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Phase 6｜效能分析與容量規劃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Baseline / Measure / Isolate / Tune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15/60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系統沒有壞，但使用量變大後變慢，需要找 bottleneck 與預估容量。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Workflow：Baseline → Measure → Isolate → Tune → Verify → Monitor → Rollback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Phase 6 核心指令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常用指令搭配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16/60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10698480" cy="438912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600">
                <a:solidFill>
                  <a:srgbClr val="E5E7EB"/>
                </a:solidFill>
                <a:latin typeface="Consolas"/>
              </a:rPr>
              <a:t>lscpu uptime top mpstat
free meminfo vmstat
df -h df -i du
iostat -xz vmstat
ip -s ss sar iperf3
top ps pidstat
ps pmap free
vmstat sar -r swap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  <a:latin typeface="Arial"/>
              </a:defRPr>
            </a:pPr>
            <a:r>
              <a:t>教學要求：說明每個指令的目的、輸出怎麼判斷、下一步如何決策。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Phase 7｜安全性檢查與暴露面管理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Inventory / Assess / Isolate / Harden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17/60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系統正常，但要盤點暴露面、權限、secret 與必要服務，降低攻擊面。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Workflow：Inventory → Assess → Isolate → Harden → Verify → Monitor → Rollback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Phase 7 核心指令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常用指令搭配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18/60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10698480" cy="438912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600">
                <a:solidFill>
                  <a:srgbClr val="E5E7EB"/>
                </a:solidFill>
                <a:latin typeface="Consolas"/>
              </a:rPr>
              <a:t>who w last
sudo -l getent group sudo
getent passwd lastlog
getent group gpasswd
find ls stat chmod
find -perm /6000
sshd -T sshd_config
ss -tulpn lsof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  <a:latin typeface="Arial"/>
              </a:defRPr>
            </a:pPr>
            <a:r>
              <a:t>教學要求：說明每個指令的目的、輸出怎麼判斷、下一步如何決策。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Phase 8｜進階系統管理與基礎設施維運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Inventory / Plan / Prepare /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19/60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從單機 Linux 管理擴展到自動化、多機、容器、Infra 與 IaC。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Workflow：Inventory → Plan → Prepare → Change → Verify → Monitor → Rollback → Automate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Phase 8 核心指令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常用指令搭配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20/60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10698480" cy="438912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600">
                <a:solidFill>
                  <a:srgbClr val="E5E7EB"/>
                </a:solidFill>
                <a:latin typeface="Consolas"/>
              </a:rPr>
              <a:t>script timer lock log
request approve audit revoke
rsync checksum switch
release current symlink
systemd target dependency
ssh scp rsync loop
docker image run logs
LVM bridge VLAN NAT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  <a:latin typeface="Arial"/>
              </a:defRPr>
            </a:pPr>
            <a:r>
              <a:t>教學要求：說明每個指令的目的、輸出怎麼判斷、下一步如何決策。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Phase 1 教學地圖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接手正常系統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21/60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主題數：18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PPT：60 頁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Scenario / Commands / Verify / Rollback 都要成套。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Phase 2 教學地圖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故障診斷與修復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22/60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主題數：15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PPT：60 頁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Scenario / Commands / Verify / Rollback 都要成套。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Phase 3 教學地圖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建置與擴充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23/60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主題數：17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PPT：60 頁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Scenario / Commands / Verify / Rollback 都要成套。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Phase 4 教學地圖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日常維運與變更管理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24/60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主題數：18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PPT：60 頁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Scenario / Commands / Verify / Rollback 都要成套。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Phase 5 教學地圖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備份還原與災難恢復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25/60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主題數：19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PPT：60 頁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Scenario / Commands / Verify / Rollback 都要成套。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Phase 6 教學地圖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效能分析與容量規劃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26/60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主題數：23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PPT：60 頁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Scenario / Commands / Verify / Rollback 都要成套。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Phase 7 教學地圖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安全性檢查與暴露面管理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27/60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主題數：23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PPT：60 頁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Scenario / Commands / Verify / Rollback 都要成套。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Phase 8 教學地圖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進階系統管理與基礎設施維運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28/60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主題數：11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PPT：60 頁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Scenario / Commands / Verify / Rollback 都要成套。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Repository 結構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Course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29/60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phase1～phase8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common/report-app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common/report-worker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runtime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tests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docs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ppt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Script 結構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Course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30/60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prepare / fault / inventory / measure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verify / rollback / reset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setup / baseline / verify-all / reset-all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Course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31/60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test-syntax.sh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test-phase1.sh ～ test-phase8.sh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test-scenarios.sh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test-rollback.sh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test-idempotency.sh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教學使用方式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Course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32/60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先講故事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再示範一輪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學生獨立操作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最後用 verify 檢查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交付物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Course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33/60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每 Phase 一份操作紀錄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每 Scenario 一份 evidence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最後一份完整 Linux Operations Report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快速複習：Phase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故障診斷與修復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34/60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Report App 被注入故障，學生從症狀追到 root cause，修復並驗證。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關鍵：Symptom / Detect / Inspect / Isolate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快速複習：Phase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建置與擴充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35/60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Report App 正常運作，在不中斷原服務前提下新增 Report Worker。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關鍵：Read Existing / Plan / Prepare / Create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快速複習：Phase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日常維運與變更管理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36/60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Report 系統已上線，開始處理 production-like 變更。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關鍵：Observe / Plan Change / Backup / Change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快速複習：Phase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備份還原與災難恢復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37/60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重大事故後，選擇恢復點，保護現況，恢復資料與服務。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關鍵：Assess Loss / Select Backup / Protect Current / Restore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快速複習：Phase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效能分析與容量規劃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38/60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系統沒有壞，但使用量變大後變慢，需要找 bottleneck 與預估容量。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關鍵：Baseline / Measure / Isolate / Tune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快速複習：Phase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安全性檢查與暴露面管理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39/60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系統正常，但要盤點暴露面、權限、secret 與必要服務，降低攻擊面。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關鍵：Inventory / Assess / Isolate / Harden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快速複習：Phase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進階系統管理與基礎設施維運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40/60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從單機 Linux 管理擴展到自動化、多機、容器、Infra 與 IaC。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關鍵：Inventory / Plan / Prepare / Change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快速複習：Phase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接手正常系統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41/60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接手一台已正常運作的 Report App Server，建立 baseline，完成巡檢報告。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關鍵：Login / Read System / Operate Safely / Verify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快速複習：Phase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故障診斷與修復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42/60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Report App 被注入故障，學生從症狀追到 root cause，修復並驗證。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關鍵：Symptom / Detect / Inspect / Isolate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快速複習：Phase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建置與擴充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43/60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Report App 正常運作，在不中斷原服務前提下新增 Report Worker。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關鍵：Read Existing / Plan / Prepare / Create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快速複習：Phase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日常維運與變更管理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44/60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Report 系統已上線，開始處理 production-like 變更。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關鍵：Observe / Plan Change / Backup / Change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快速複習：Phase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備份還原與災難恢復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45/60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重大事故後，選擇恢復點，保護現況，恢復資料與服務。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關鍵：Assess Loss / Select Backup / Protect Current / Restore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快速複習：Phase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效能分析與容量規劃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46/60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系統沒有壞，但使用量變大後變慢，需要找 bottleneck 與預估容量。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關鍵：Baseline / Measure / Isolate / Tune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快速複習：Phase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安全性檢查與暴露面管理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47/60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系統正常，但要盤點暴露面、權限、secret 與必要服務，降低攻擊面。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關鍵：Inventory / Assess / Isolate / Harden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快速複習：Phase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進階系統管理與基礎設施維運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48/60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從單機 Linux 管理擴展到自動化、多機、容器、Infra 與 IaC。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關鍵：Inventory / Plan / Prepare / Change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快速複習：Phase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接手正常系統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49/60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接手一台已正常運作的 Report App Server，建立 baseline，完成巡檢報告。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關鍵：Login / Read System / Operate Safely / Verify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快速複習：Phase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故障診斷與修復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50/60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Report App 被注入故障，學生從症狀追到 root cause，修復並驗證。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關鍵：Symptom / Detect / Inspect / Isolate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快速複習：Phase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建置與擴充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51/60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Report App 正常運作，在不中斷原服務前提下新增 Report Worker。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關鍵：Read Existing / Plan / Prepare / Create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快速複習：Phase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日常維運與變更管理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52/60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Report 系統已上線，開始處理 production-like 變更。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關鍵：Observe / Plan Change / Backup / Change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快速複習：Phase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備份還原與災難恢復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53/60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重大事故後，選擇恢復點，保護現況，恢復資料與服務。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關鍵：Assess Loss / Select Backup / Protect Current / Restore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快速複習：Phase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效能分析與容量規劃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54/60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系統沒有壞，但使用量變大後變慢，需要找 bottleneck 與預估容量。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關鍵：Baseline / Measure / Isolate / Tune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快速複習：Phase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安全性檢查與暴露面管理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55/60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系統正常，但要盤點暴露面、權限、secret 與必要服務，降低攻擊面。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關鍵：Inventory / Assess / Isolate / Harden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快速複習：Phase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進階系統管理與基礎設施維運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56/60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從單機 Linux 管理擴展到自動化、多機、容器、Infra 與 IaC。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關鍵：Inventory / Plan / Prepare / Change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快速複習：Phase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接手正常系統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57/60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接手一台已正常運作的 Report App Server，建立 baseline，完成巡檢報告。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關鍵：Login / Read System / Operate Safely / Verify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快速複習：Phase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故障診斷與修復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58/60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Report App 被注入故障，學生從症狀追到 root cause，修復並驗證。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關鍵：Symptom / Detect / Inspect / Isolate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快速複習：Phase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建置與擴充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59/60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Report App 正常運作，在不中斷原服務前提下新增 Report Worker。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關鍵：Read Existing / Plan / Prepare / Create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快速複習：Phase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日常維運與變更管理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Overview · 60/60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Report 系統已上線，開始處理 production-like 變更。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關鍵：Observe / Plan Change / Backup / Change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